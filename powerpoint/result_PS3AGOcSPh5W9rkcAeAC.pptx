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y="5143500" cx="9144000"/>
  <p:notesSz cx="6858000" cy="9144000"/>
  <p:embeddedFontLst>
    <p:embeddedFont>
      <p:font typeface="Proxima Nova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font" Target="fonts/ProximaNova-regular.fntdata"/><Relationship Id="rId8" Type="http://schemas.openxmlformats.org/officeDocument/2006/relationships/font" Target="fonts/ProximaNova-bold.fntdata"/><Relationship Id="rId9" Type="http://schemas.openxmlformats.org/officeDocument/2006/relationships/font" Target="fonts/ProximaNova-italic.fntdata"/><Relationship Id="rId10" Type="http://schemas.openxmlformats.org/officeDocument/2006/relationships/font" Target="fonts/ProximaNova-boldItalic.fnt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4"/>
                </a:solidFill>
              </a:defRPr>
            </a:lvl1pPr>
            <a:lvl2pPr lvl="1">
              <a:buNone/>
              <a:defRPr>
                <a:solidFill>
                  <a:schemeClr val="accent4"/>
                </a:solidFill>
              </a:defRPr>
            </a:lvl2pPr>
            <a:lvl3pPr lvl="2">
              <a:buNone/>
              <a:defRPr>
                <a:solidFill>
                  <a:schemeClr val="accent4"/>
                </a:solidFill>
              </a:defRPr>
            </a:lvl3pPr>
            <a:lvl4pPr lvl="3">
              <a:buNone/>
              <a:defRPr>
                <a:solidFill>
                  <a:schemeClr val="accent4"/>
                </a:solidFill>
              </a:defRPr>
            </a:lvl4pPr>
            <a:lvl5pPr lvl="4">
              <a:buNone/>
              <a:defRPr>
                <a:solidFill>
                  <a:schemeClr val="accent4"/>
                </a:solidFill>
              </a:defRPr>
            </a:lvl5pPr>
            <a:lvl6pPr lvl="5">
              <a:buNone/>
              <a:defRPr>
                <a:solidFill>
                  <a:schemeClr val="accent4"/>
                </a:solidFill>
              </a:defRPr>
            </a:lvl6pPr>
            <a:lvl7pPr lvl="6">
              <a:buNone/>
              <a:defRPr>
                <a:solidFill>
                  <a:schemeClr val="accent4"/>
                </a:solidFill>
              </a:defRPr>
            </a:lvl7pPr>
            <a:lvl8pPr lvl="7">
              <a:buNone/>
              <a:defRPr>
                <a:solidFill>
                  <a:schemeClr val="accent4"/>
                </a:solidFill>
              </a:defRPr>
            </a:lvl8pPr>
            <a:lvl9pPr lvl="8">
              <a:buNone/>
              <a:defRPr>
                <a:solidFill>
                  <a:schemeClr val="accent4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87975" y="789025"/>
            <a:ext cx="8520600" cy="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AND_BODY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695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3810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4"/>
                </a:solidFill>
              </a:defRPr>
            </a:lvl1pPr>
            <a:lvl2pPr lvl="1">
              <a:buNone/>
              <a:defRPr>
                <a:solidFill>
                  <a:schemeClr val="accent4"/>
                </a:solidFill>
              </a:defRPr>
            </a:lvl2pPr>
            <a:lvl3pPr lvl="2">
              <a:buNone/>
              <a:defRPr>
                <a:solidFill>
                  <a:schemeClr val="accent4"/>
                </a:solidFill>
              </a:defRPr>
            </a:lvl3pPr>
            <a:lvl4pPr lvl="3">
              <a:buNone/>
              <a:defRPr>
                <a:solidFill>
                  <a:schemeClr val="accent4"/>
                </a:solidFill>
              </a:defRPr>
            </a:lvl4pPr>
            <a:lvl5pPr lvl="4">
              <a:buNone/>
              <a:defRPr>
                <a:solidFill>
                  <a:schemeClr val="accent4"/>
                </a:solidFill>
              </a:defRPr>
            </a:lvl5pPr>
            <a:lvl6pPr lvl="5">
              <a:buNone/>
              <a:defRPr>
                <a:solidFill>
                  <a:schemeClr val="accent4"/>
                </a:solidFill>
              </a:defRPr>
            </a:lvl6pPr>
            <a:lvl7pPr lvl="6">
              <a:buNone/>
              <a:defRPr>
                <a:solidFill>
                  <a:schemeClr val="accent4"/>
                </a:solidFill>
              </a:defRPr>
            </a:lvl7pPr>
            <a:lvl8pPr lvl="7">
              <a:buNone/>
              <a:defRPr>
                <a:solidFill>
                  <a:schemeClr val="accent4"/>
                </a:solidFill>
              </a:defRPr>
            </a:lvl8pPr>
            <a:lvl9pPr lvl="8">
              <a:buNone/>
              <a:defRPr>
                <a:solidFill>
                  <a:schemeClr val="accent4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>
            <p:ph idx="3" type="subTitle"/>
          </p:nvPr>
        </p:nvSpPr>
        <p:spPr>
          <a:xfrm>
            <a:off x="386975" y="864000"/>
            <a:ext cx="8368200" cy="8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4" type="body"/>
          </p:nvPr>
        </p:nvSpPr>
        <p:spPr>
          <a:xfrm>
            <a:off x="4813725" y="3822525"/>
            <a:ext cx="3999900" cy="2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3050" lvl="0" marL="457200" rtl="0" algn="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60350" lvl="1" marL="914400" rtl="0" algn="r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2pPr>
            <a:lvl3pPr indent="-260350" lvl="2" marL="1371600" rtl="0" algn="r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3pPr>
            <a:lvl4pPr indent="-260350" lvl="3" marL="1828800" rtl="0" algn="r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4pPr>
            <a:lvl5pPr indent="-260350" lvl="4" marL="2286000" rtl="0" algn="r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5pPr>
            <a:lvl6pPr indent="-260350" lvl="5" marL="2743200" rtl="0" algn="r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6pPr>
            <a:lvl7pPr indent="-260350" lvl="6" marL="3200400" rtl="0" algn="r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7pPr>
            <a:lvl8pPr indent="-260350" lvl="7" marL="3657600" rtl="0" algn="r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8pPr>
            <a:lvl9pPr indent="-260350" lvl="8" marL="4114800" rtl="0" algn="r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13048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0"/>
          <p:cNvSpPr txBox="1"/>
          <p:nvPr>
            <p:ph idx="3" type="subTitle"/>
          </p:nvPr>
        </p:nvSpPr>
        <p:spPr>
          <a:xfrm>
            <a:off x="386975" y="787800"/>
            <a:ext cx="8368200" cy="8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4" type="body"/>
          </p:nvPr>
        </p:nvSpPr>
        <p:spPr>
          <a:xfrm>
            <a:off x="4813725" y="3822525"/>
            <a:ext cx="3999900" cy="2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3050" lvl="0" marL="457200" rtl="0" algn="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60350" lvl="1" marL="914400" rtl="0" algn="r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2pPr>
            <a:lvl3pPr indent="-260350" lvl="2" marL="1371600" rtl="0" algn="r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3pPr>
            <a:lvl4pPr indent="-260350" lvl="3" marL="1828800" rtl="0" algn="r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4pPr>
            <a:lvl5pPr indent="-260350" lvl="4" marL="2286000" rtl="0" algn="r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5pPr>
            <a:lvl6pPr indent="-260350" lvl="5" marL="2743200" rtl="0" algn="r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6pPr>
            <a:lvl7pPr indent="-260350" lvl="6" marL="3200400" rtl="0" algn="r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7pPr>
            <a:lvl8pPr indent="-260350" lvl="7" marL="3657600" rtl="0" algn="r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8pPr>
            <a:lvl9pPr indent="-260350" lvl="8" marL="4114800" rtl="0" algn="r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9pPr>
          </a:lstStyle>
          <a:p/>
        </p:txBody>
      </p:sp>
      <p:sp>
        <p:nvSpPr>
          <p:cNvPr id="53" name="Google Shape;53;p1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2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Superalloys and Casting Process for Ultra-High Temperature Gas Turbines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670"/>
            <a:ext cx="4190999" cy="1729382"/>
          </a:xfrm>
          <a:prstGeom prst="rect">
            <a:avLst/>
          </a:prstGeom>
          <a:noFill/>
          <a:ln>
            <a:noFill/>
          </a:ln>
        </p:spPr>
        <p:txBody>
          <a:bodyPr wrap="square" bIns="190500" lIns="190500" rIns="0" tIns="0" anchor="t">
            <a:spAutoFit/>
          </a:bodyPr>
          <a:lstStyle/>
          <a:p>
            <a:pPr algn="l" marL="228600" indent="-91440">
              <a:spcBef>
                <a:spcPts val="0"/>
              </a:spcBef>
              <a:spcAft>
                <a:spcPts val="80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Relatore: Ch.mo Prof. Ing. Antonio Formisano: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Candidato: Salvatore Palumbo: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Obiettivo della ricerca: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Migliorare l'efficienza delle turbine a gas attraverso l'aumento della Turbine Inlet Temperature (TIT) e lo sviluppo di superleghe avanzate.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400" y="1508670"/>
            <a:ext cx="4190999" cy="2359372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l"/>
          </a:p>
        </p:txBody>
      </p:sp>
      <p:pic>
        <p:nvPicPr>
          <p:cNvPr id="10" name="Picture 9" descr="tmppiiul_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508670"/>
            <a:ext cx="4190999" cy="23593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b="0" i="0" sz="900">
                <a:solidFill>
                  <a:srgbClr val="616161"/>
                </a:solidFill>
                <a:latin typeface="Proxima Nova"/>
              </a:rPr>
              <a:t>Photo by Crystal Kwok on Unsplash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Introduzione alle Turbine a Gas ad Alta Temperatura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670"/>
            <a:ext cx="4190999" cy="2346424"/>
          </a:xfrm>
          <a:prstGeom prst="rect">
            <a:avLst/>
          </a:prstGeom>
          <a:noFill/>
          <a:ln>
            <a:noFill/>
          </a:ln>
        </p:spPr>
        <p:txBody>
          <a:bodyPr wrap="square" bIns="190500" lIns="190500" rIns="0" tIns="0" anchor="t">
            <a:spAutoFit/>
          </a:bodyPr>
          <a:lstStyle/>
          <a:p>
            <a:pPr algn="l" marL="228600" indent="-91440">
              <a:spcBef>
                <a:spcPts val="0"/>
              </a:spcBef>
              <a:spcAft>
                <a:spcPts val="80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Efficienza energetica: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Le turbine a gas ad alta temperatura sono cruciali per migliorare l'efficienza energetica.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Aumento della TIT: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L'aumento della Turbine Inlet Temperature (TIT) consente di migliorare le prestazioni del ciclo combinato.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Sfide e benefici: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L'incremento della TIT comporta sfide tecniche ma offre benefici significativi in termini di efficienza e riduzione dei consumi.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400" y="1508670"/>
            <a:ext cx="4190999" cy="2359372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l"/>
          </a:p>
        </p:txBody>
      </p:sp>
      <p:pic>
        <p:nvPicPr>
          <p:cNvPr id="10" name="Picture 9" descr="tmpwifk38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508670"/>
            <a:ext cx="4190999" cy="23593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b="0" i="0" sz="900">
                <a:solidFill>
                  <a:srgbClr val="616161"/>
                </a:solidFill>
                <a:latin typeface="Proxima Nova"/>
              </a:rPr>
              <a:t>Photo by M GF on Unsplash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Evoluzione delle Superleghe a Base di Nichel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670"/>
            <a:ext cx="4190999" cy="2552104"/>
          </a:xfrm>
          <a:prstGeom prst="rect">
            <a:avLst/>
          </a:prstGeom>
          <a:noFill/>
          <a:ln>
            <a:noFill/>
          </a:ln>
        </p:spPr>
        <p:txBody>
          <a:bodyPr wrap="square" bIns="190500" lIns="190500" rIns="0" tIns="0" anchor="t">
            <a:spAutoFit/>
          </a:bodyPr>
          <a:lstStyle/>
          <a:p>
            <a:pPr algn="l" marL="228600" indent="-91440">
              <a:spcBef>
                <a:spcPts val="0"/>
              </a:spcBef>
              <a:spcAft>
                <a:spcPts val="80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Definizione: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Le superleghe a base di nichel sono materiali avanzati utilizzati per le loro eccezionali proprietà meccaniche ad alte temperature.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Microstruttura a due fasi: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La microstruttura delle superleghe include una matrice continua (fase γ) e una fase precipitata (fase γ').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Meccanismi di rafforzamento: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I meccanismi di dislocazione e la composizione degli elementi di lega contribuiscono a migliorare la resistenza al creep e la stabilità termica.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400" y="1508670"/>
            <a:ext cx="4190999" cy="2359372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l"/>
          </a:p>
        </p:txBody>
      </p:sp>
      <p:pic>
        <p:nvPicPr>
          <p:cNvPr id="10" name="Picture 9" descr="tmpsinwvlz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508670"/>
            <a:ext cx="4190999" cy="23593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b="0" i="0" sz="900">
                <a:solidFill>
                  <a:srgbClr val="616161"/>
                </a:solidFill>
                <a:latin typeface="Proxima Nova"/>
              </a:rPr>
              <a:t>Photo by tian ci on Unsplash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Progetto di Superleghe a Base di Nichel per Turbine a Gas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670"/>
            <a:ext cx="4190999" cy="2552104"/>
          </a:xfrm>
          <a:prstGeom prst="rect">
            <a:avLst/>
          </a:prstGeom>
          <a:noFill/>
          <a:ln>
            <a:noFill/>
          </a:ln>
        </p:spPr>
        <p:txBody>
          <a:bodyPr wrap="square" bIns="190500" lIns="190500" rIns="0" tIns="0" anchor="t">
            <a:spAutoFit/>
          </a:bodyPr>
          <a:lstStyle/>
          <a:p>
            <a:pPr algn="l" marL="228600" indent="-91440">
              <a:spcBef>
                <a:spcPts val="0"/>
              </a:spcBef>
              <a:spcAft>
                <a:spcPts val="80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Composizione: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Le superleghe a base di nichel includono elementi come cobalto, cromo, molibdeno, tungsteno, renio e alluminio per migliorare le proprietà meccaniche.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Meccanismi di rafforzamento: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Rafforzamento tramite dislocazioni, coerenza delle fasi γ/γ' e resistenza alla deformazione a creep.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Innovazioni recenti: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Sviluppo di superleghe senza renio con eccezionali proprietà di resistenza e stabilità termica.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400" y="1508670"/>
            <a:ext cx="4190999" cy="2359372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l"/>
          </a:p>
        </p:txBody>
      </p:sp>
      <p:pic>
        <p:nvPicPr>
          <p:cNvPr id="10" name="Picture 9" descr="tmpsinwvlz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508670"/>
            <a:ext cx="4190999" cy="23593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b="0" i="0" sz="900">
                <a:solidFill>
                  <a:srgbClr val="616161"/>
                </a:solidFill>
                <a:latin typeface="Proxima Nova"/>
              </a:rPr>
              <a:t>Photo by tian ci on Unsplash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Analisi delle Tecniche di Simulazione per il Processo di Colata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275778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4190999" cy="275778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670"/>
            <a:ext cx="4190999" cy="2757785"/>
          </a:xfrm>
          <a:prstGeom prst="rect">
            <a:avLst/>
          </a:prstGeom>
          <a:noFill/>
          <a:ln>
            <a:noFill/>
          </a:ln>
        </p:spPr>
        <p:txBody>
          <a:bodyPr wrap="square" bIns="190500" lIns="190500" rIns="0" tIns="0" anchor="t">
            <a:spAutoFit/>
          </a:bodyPr>
          <a:lstStyle/>
          <a:p>
            <a:pPr algn="l" marL="228600" indent="-91440">
              <a:spcBef>
                <a:spcPts val="0"/>
              </a:spcBef>
              <a:spcAft>
                <a:spcPts val="80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Introduzione alla colata di superleghe SC: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La colata di superleghe a singolo cristallo (SC) richiede simulazioni avanzate per prevedere difetti.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Previsione dei difetti: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Simulazioni per prevedere difetti come i grani vaganti, la ricristallizzazione e la formazione di 'freaks'.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Orientamento dei grani: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Ottimizzazione del processo di colata per garantire l'orientamento corretto dei grani e migliorare le proprietà meccaniche.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508670"/>
            <a:ext cx="4190999" cy="275778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400" y="1508670"/>
            <a:ext cx="4190999" cy="2359372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l"/>
          </a:p>
        </p:txBody>
      </p:sp>
      <p:pic>
        <p:nvPicPr>
          <p:cNvPr id="10" name="Picture 9" descr="tmp70q9x3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508670"/>
            <a:ext cx="4190999" cy="23593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b="0" i="0" sz="900">
                <a:solidFill>
                  <a:srgbClr val="616161"/>
                </a:solidFill>
                <a:latin typeface="Proxima Nova"/>
              </a:rPr>
              <a:t>Photo by Emanuele Diviso on Unsplash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Difetti Comuni nella Colata di Superleghe SC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670"/>
            <a:ext cx="4190999" cy="2140743"/>
          </a:xfrm>
          <a:prstGeom prst="rect">
            <a:avLst/>
          </a:prstGeom>
          <a:noFill/>
          <a:ln>
            <a:noFill/>
          </a:ln>
        </p:spPr>
        <p:txBody>
          <a:bodyPr wrap="square" bIns="190500" lIns="190500" rIns="0" tIns="0" anchor="t">
            <a:spAutoFit/>
          </a:bodyPr>
          <a:lstStyle/>
          <a:p>
            <a:pPr algn="l" marL="228600" indent="-91440">
              <a:spcBef>
                <a:spcPts val="0"/>
              </a:spcBef>
              <a:spcAft>
                <a:spcPts val="80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Formazione di 'freaks':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Difetti causati dalla segregazione degli elementi durante la solidificazione.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Grani vaganti: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Difetti causati da una crescita irregolare dei grani durante la colata.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Ricristallizzazione: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Nucleazione di nuovi grani dovuta alle tensioni residue generate durante la colata.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400" y="1508670"/>
            <a:ext cx="4190999" cy="2359372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l"/>
          </a:p>
        </p:txBody>
      </p:sp>
      <p:pic>
        <p:nvPicPr>
          <p:cNvPr id="10" name="Picture 9" descr="tmpl9ng0_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508670"/>
            <a:ext cx="4190999" cy="23593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b="0" i="0" sz="900">
                <a:solidFill>
                  <a:srgbClr val="616161"/>
                </a:solidFill>
                <a:latin typeface="Proxima Nova"/>
              </a:rPr>
              <a:t>Photo by Daniele Levis Pelusi on Unsplash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Conclusioni e Implicazioni Future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29634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4190999" cy="29634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670"/>
            <a:ext cx="4190999" cy="2963465"/>
          </a:xfrm>
          <a:prstGeom prst="rect">
            <a:avLst/>
          </a:prstGeom>
          <a:noFill/>
          <a:ln>
            <a:noFill/>
          </a:ln>
        </p:spPr>
        <p:txBody>
          <a:bodyPr wrap="square" bIns="190500" lIns="190500" rIns="0" tIns="0" anchor="t">
            <a:spAutoFit/>
          </a:bodyPr>
          <a:lstStyle/>
          <a:p>
            <a:pPr algn="l" marL="228600" indent="-91440">
              <a:spcBef>
                <a:spcPts val="0"/>
              </a:spcBef>
              <a:spcAft>
                <a:spcPts val="80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Risultati principali: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La ricerca ha dimostrato l'efficacia delle superleghe a base di nichel e delle tecniche di colata avanzate per migliorare l'efficienza delle turbine a gas.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Applicazioni future: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Le innovazioni nel design delle superleghe e nelle tecniche di simulazione aprono nuove possibilità per lo sviluppo di turbine a gas ancora più efficienti.</a:t>
            </a:r>
          </a:p>
          <a:p>
            <a:pPr lvl="1" algn="l" marL="228600" indent="-9144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sz="1300">
                <a:solidFill>
                  <a:srgbClr val="616161"/>
                </a:solidFill>
                <a:latin typeface="Proxima Nova"/>
              </a:rPr>
              <a:t>Sviluppi tecnologici:</a:t>
            </a:r>
            <a:r>
              <a:rPr b="0" i="0" sz="1300">
                <a:solidFill>
                  <a:srgbClr val="616161"/>
                </a:solidFill>
                <a:latin typeface="Proxima Nova"/>
              </a:rPr>
              <a:t> L'integrazione di nuovi materiali e processi di produzione avanzati continuerà a migliorare le prestazioni delle turbine a gas.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508670"/>
            <a:ext cx="4190999" cy="29634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400" y="1508670"/>
            <a:ext cx="4190999" cy="2359372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l"/>
          </a:p>
        </p:txBody>
      </p:sp>
      <p:pic>
        <p:nvPicPr>
          <p:cNvPr id="10" name="Picture 9" descr="tmp2d_xf7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508670"/>
            <a:ext cx="4190999" cy="23593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r">
              <a:spcAft>
                <a:spcPts val="1200"/>
              </a:spcAft>
            </a:pPr>
            <a:r>
              <a:rPr b="0" i="0" sz="900">
                <a:solidFill>
                  <a:srgbClr val="616161"/>
                </a:solidFill>
                <a:latin typeface="Proxima Nova"/>
              </a:rPr>
              <a:t>Photo by Piotr Makowski on Unsplash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63D297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