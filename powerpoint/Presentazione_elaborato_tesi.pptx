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9FA8"/>
    <a:srgbClr val="B3D2E2"/>
    <a:srgbClr val="FFFFFF"/>
    <a:srgbClr val="89A4AD"/>
    <a:srgbClr val="97AFB7"/>
    <a:srgbClr val="C0C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632" y="5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9T22:37:10.4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1,'11'1,"-1"0,0 0,0 1,0 1,0 0,0 0,13 7,68 39,-51-26,51 22,131 43,19 9,-223-89,-1 1,-1 1,1 1,-2 0,1 1,-2 0,1 1,-2 1,0 0,18 26,-20-27,1-1,0 0,0-1,1-1,1 0,0-1,0 0,1-1,24 10,-12-5,37 25,12 11,2-3,113 48,93 16,-191-76,-24-11,-35-13,-1 2,57 30,110 53,-115-57,48 15,-83-35,-1 2,51 29,378 264,-400-247,-53-44,1-1,52 34,298 177,-362-222,20 9,44 19,6 3,-8-1,158 58,-56-24,-48-17,-104-47,-1 2,0 1,-1 1,0 1,-1 1,21 19,-34-24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8F994-3674-4470-AD9F-B1E60A8EF5E8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22003-B7EC-4E2C-A083-162C543632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5538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106E01-B8CD-24A9-EBF8-8B29FE329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D206AEE-6A4F-F093-6274-3834CEC00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B95D8D-024C-0497-DD9D-2074CCC2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3A4AC6-AC3A-5F6C-ECB8-82C9C021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9AAA5F-D50F-6EB4-F8B6-EC772070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366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69519E-8014-825C-CE1C-3588648F5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15226F-221D-1D55-0727-F3569EBA2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2E5A79-2F56-57E9-3B8B-351E1F74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A91BB2-174F-569B-0513-C5B4906B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26B3FF-5909-DB37-B8A2-7A3ECFAA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39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741E1B-EEA0-FD1E-67E3-6EBA2735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9E7B87-6CEA-8D8C-CC86-4DF2266EF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A4F84D-7F6C-5D24-3A6F-A78D84B5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3225D1-FF73-2E76-BB7C-A99546BE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3F023B-F597-7957-3A3E-B5A7957F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654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E1D88C-B8AD-665B-D858-63271209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65D1FB-7D5B-56C6-E2CF-AD4F6E1D2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3EEFCA2-3195-AFA5-9C18-E665FEC29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97BD2A3-2C82-E752-3E26-124CEDD1E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9D559A2-99E1-05C4-DFD4-E8E6411F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DBFC46C-3299-9F23-E755-54A40F93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29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0A9BD8-AE87-3091-FF42-F90744F6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E5BDACD-D612-6AAF-42ED-0DF0A9520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25AAEAA-51A5-98E0-4002-E3993CE56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35797C5-9838-88DE-6D09-E26F5B1D1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84BFA4D-0796-7B61-CECD-6222B8F2D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B610D0C-7B13-A3B4-F7B8-F6E07472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49E0439-5B70-5B34-79A6-0ADDF852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51283EF-C154-CADF-1E5D-680DAD86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43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319C9D-85AC-CFC3-755D-1F1BCFF7B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FFAF0BA-1583-2675-FC24-E7207CDD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8E1CFF0-3DF3-DF4A-EB3E-2785E365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10BE36D-F554-C2E8-42EE-B8A53113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737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8E3B191-15D9-C5A8-79EA-17433894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50C2A15-ECAB-9A5C-989D-9B54388A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F3D90C-4A3E-0C1D-6836-3D2B4A44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798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32C408-2ECD-CDB1-B01F-000BC3F8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87635A-F948-B756-10B9-B135E9771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C071E64-F908-937B-90ED-4D4019517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5D17F4-A9E8-16B7-0AF8-AACD9A4D9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B17D087-3B2E-1167-7C67-BBC4A6AC9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DD1ECE8-13A5-C9EF-B0ED-BB5CE8C6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607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6A1333-5588-0C6C-6142-B59599EA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69B4307-D06E-713C-DFB2-9DFDC3B06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13B6F26-2757-74E3-C8D3-FB3534975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1C7F891-5A69-B7D5-6770-13AACCFCE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20E12B-BF0A-B3D1-47CA-20F6E4A34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666A1A-96ED-E4DA-3945-BB0F8D8D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556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6BF031-299C-B156-5032-02770D998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04B4755-79D4-223E-65A8-19FCAA7FF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55EB93E-EB10-3F47-4C6F-8616C7A2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CB99A4-D0B8-02D7-7749-992184AC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298C86-8E9C-1870-BB94-3FF04C6C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077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B185E4D-15B7-9171-2C00-4B45414D5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1D02C51-B848-5219-4CD4-E5A38B6F7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F715D5-4FAB-A871-3867-BD5A1B60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8AB69B-44C1-0988-2D0A-70CBD84D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0DB63C-2E40-0359-3BEC-C21A4715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891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3690101-E1B6-A1BE-7FC1-862BF9E1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1AF6F0-ACE9-E8D4-6BCA-BE72E585E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151C64-2593-590B-9F00-0D91BBCE5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5005F-191D-47E6-8994-127EBC0434F6}" type="datetimeFigureOut">
              <a:rPr lang="it-IT" smtClean="0"/>
              <a:t>13/07/2024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B828B2-70CA-7350-1099-29A8AACE1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8975A06-6D71-BC36-3867-4071FF370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472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9FA8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motore&#10;&#10;Descrizione generata automaticamente con attendibilità media">
            <a:extLst>
              <a:ext uri="{FF2B5EF4-FFF2-40B4-BE49-F238E27FC236}">
                <a16:creationId xmlns:a16="http://schemas.microsoft.com/office/drawing/2014/main" id="{AE3277FE-3E07-2604-84DD-2BAE388720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65"/>
          <a:stretch/>
        </p:blipFill>
        <p:spPr>
          <a:xfrm>
            <a:off x="6096000" y="-6417"/>
            <a:ext cx="6096000" cy="6864417"/>
          </a:xfrm>
          <a:prstGeom prst="rect">
            <a:avLst/>
          </a:prstGeom>
          <a:noFill/>
        </p:spPr>
      </p:pic>
      <p:pic>
        <p:nvPicPr>
          <p:cNvPr id="11" name="Immagine 1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DCD2D18-DCDD-54E8-C294-B5679F0EF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3825" y="142876"/>
            <a:ext cx="1162050" cy="1157588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26AFB09-6CCC-09E1-3E33-850678C5AB7F}"/>
              </a:ext>
            </a:extLst>
          </p:cNvPr>
          <p:cNvSpPr txBox="1"/>
          <p:nvPr/>
        </p:nvSpPr>
        <p:spPr>
          <a:xfrm>
            <a:off x="1285875" y="16385"/>
            <a:ext cx="4645890" cy="1678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Università degli Studi di Napoli Federico II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Scuola Politecnica e delle Scienze di Base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Dipartimento di Ingegneria Industriale</a:t>
            </a:r>
            <a:endParaRPr lang="it-IT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Corso di Laurea in Ingegneria Meccanica</a:t>
            </a:r>
            <a:endParaRPr lang="it-IT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Classe di laurea L 09</a:t>
            </a:r>
            <a:endParaRPr lang="it-IT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2C4593A-C6E5-42AB-4225-8F348A48E605}"/>
              </a:ext>
            </a:extLst>
          </p:cNvPr>
          <p:cNvSpPr txBox="1"/>
          <p:nvPr/>
        </p:nvSpPr>
        <p:spPr>
          <a:xfrm>
            <a:off x="123825" y="4658630"/>
            <a:ext cx="6096000" cy="19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Relatore:</a:t>
            </a:r>
            <a:endParaRPr lang="it-IT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Ch.mo Prof. Ing. Antonio Formisano</a:t>
            </a:r>
            <a:endParaRPr lang="it-IT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Candidato:</a:t>
            </a:r>
            <a:endParaRPr lang="it-IT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Salvatore Palumbo</a:t>
            </a:r>
            <a:endParaRPr lang="it-IT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N47/7322</a:t>
            </a:r>
            <a:endParaRPr lang="it-IT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C5DF9C4-5629-1A20-6CF0-7BB73CED49D5}"/>
              </a:ext>
            </a:extLst>
          </p:cNvPr>
          <p:cNvSpPr txBox="1"/>
          <p:nvPr/>
        </p:nvSpPr>
        <p:spPr>
          <a:xfrm>
            <a:off x="4771592" y="1820479"/>
            <a:ext cx="2896466" cy="76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Elaborato di laurea in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Tecnologia meccanica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CB1C0FD-2098-1E46-15C7-FB2FA098D7F2}"/>
              </a:ext>
            </a:extLst>
          </p:cNvPr>
          <p:cNvSpPr/>
          <p:nvPr/>
        </p:nvSpPr>
        <p:spPr>
          <a:xfrm>
            <a:off x="0" y="2619897"/>
            <a:ext cx="12192000" cy="17181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Superalloys and casting process</a:t>
            </a:r>
            <a:endParaRPr lang="it-IT" sz="4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ultra-high temperature gas turbines</a:t>
            </a:r>
            <a:endParaRPr lang="it-IT" sz="4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C8CF257-8B5B-737F-31BB-E634BE2DD43D}"/>
              </a:ext>
            </a:extLst>
          </p:cNvPr>
          <p:cNvSpPr txBox="1"/>
          <p:nvPr/>
        </p:nvSpPr>
        <p:spPr>
          <a:xfrm>
            <a:off x="8336436" y="6441329"/>
            <a:ext cx="3855564" cy="37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ANNO ACCADEMICO 2023/2024</a:t>
            </a:r>
            <a:endParaRPr lang="it-IT" sz="14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8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C0CAA927-D7BC-4F55-F867-C82041C7A1C1}"/>
              </a:ext>
            </a:extLst>
          </p:cNvPr>
          <p:cNvSpPr txBox="1"/>
          <p:nvPr/>
        </p:nvSpPr>
        <p:spPr>
          <a:xfrm>
            <a:off x="4062603" y="0"/>
            <a:ext cx="4066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increasing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TIT?</a:t>
            </a:r>
            <a:endParaRPr lang="it-IT" sz="3600" dirty="0"/>
          </a:p>
        </p:txBody>
      </p:sp>
      <p:pic>
        <p:nvPicPr>
          <p:cNvPr id="8" name="Immagine 7" descr="Immagine che contiene diagramma, linea, Diagramma, Piano&#10;&#10;Descrizione generata automaticamente">
            <a:extLst>
              <a:ext uri="{FF2B5EF4-FFF2-40B4-BE49-F238E27FC236}">
                <a16:creationId xmlns:a16="http://schemas.microsoft.com/office/drawing/2014/main" id="{D2B58F3A-7B06-B434-DEF3-463E5C526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47" y="3380509"/>
            <a:ext cx="6564977" cy="3477491"/>
          </a:xfrm>
          <a:prstGeom prst="rect">
            <a:avLst/>
          </a:prstGeom>
        </p:spPr>
      </p:pic>
      <p:pic>
        <p:nvPicPr>
          <p:cNvPr id="10" name="Immagine 9" descr="Immagine che contiene testo, diagramma, schermata, Piano&#10;&#10;Descrizione generata automaticamente">
            <a:extLst>
              <a:ext uri="{FF2B5EF4-FFF2-40B4-BE49-F238E27FC236}">
                <a16:creationId xmlns:a16="http://schemas.microsoft.com/office/drawing/2014/main" id="{7D1D070D-F3F9-48F3-CA46-886A86791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63" y="747204"/>
            <a:ext cx="5041484" cy="2532431"/>
          </a:xfrm>
          <a:prstGeom prst="rect">
            <a:avLst/>
          </a:prstGeom>
        </p:spPr>
      </p:pic>
      <p:pic>
        <p:nvPicPr>
          <p:cNvPr id="12" name="Immagine 11" descr="Immagine che contiene testo, linea, schermata, Diagramma&#10;&#10;Descrizione generata automaticamente">
            <a:extLst>
              <a:ext uri="{FF2B5EF4-FFF2-40B4-BE49-F238E27FC236}">
                <a16:creationId xmlns:a16="http://schemas.microsoft.com/office/drawing/2014/main" id="{7AF3BD7C-6C49-BDBE-7EC2-DC55F0EC3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93" y="3380508"/>
            <a:ext cx="4073235" cy="347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4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53AF86D2-9C15-DC9A-C825-6E2A68AB76C7}"/>
              </a:ext>
            </a:extLst>
          </p:cNvPr>
          <p:cNvSpPr txBox="1"/>
          <p:nvPr/>
        </p:nvSpPr>
        <p:spPr>
          <a:xfrm>
            <a:off x="2425826" y="0"/>
            <a:ext cx="8567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 Mitsubishi Heavy Industries (MHI) project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8E68254-FDFE-4E37-6F2F-246F14C3A0B8}"/>
              </a:ext>
            </a:extLst>
          </p:cNvPr>
          <p:cNvSpPr txBox="1"/>
          <p:nvPr/>
        </p:nvSpPr>
        <p:spPr>
          <a:xfrm>
            <a:off x="614934" y="1326068"/>
            <a:ext cx="6094476" cy="5145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High-performance compressors with improved boundary layer control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increase pressure ratio and efficiency.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Lean premix combustors with reduced NOx emissions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achieved through improved flame position evaluation using optical measurement and large-scale unsteady numerical simulation.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High-performance turbines with optimized exhaust diffusers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improve efficiency by reducing turbine blade exit velocity.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Advanced thermal barrier coatings (TBC) for high-temperature components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improved thermal conductivity and high-temperature stability.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Welding repair technology for single-crystal turbine blades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using Laser Metal Deposition (LMD).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Additive manufacturing for complex cooling structures in hot parts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reduce cooling air volume.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u="sng" kern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 heat-resistant materials for turbine blades</a:t>
            </a:r>
            <a:r>
              <a:rPr lang="en-GB" sz="1000" u="sng" kern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excellent creep strength and dwell thermo-mechanical fatigue strength</a:t>
            </a:r>
            <a:r>
              <a:rPr lang="en-GB" sz="1000" kern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1000" kern="10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u="sng" kern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Casting process simulations for directionally solidified and single crystal blades</a:t>
            </a:r>
            <a:r>
              <a:rPr lang="en-GB" sz="1000" u="sng" kern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predict casting defects and optimize casting processes.</a:t>
            </a:r>
            <a:endParaRPr lang="it-IT" sz="1000" kern="10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Wireless power supply technology for high-speed blade vibration measurement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eliminating the need for battery changes.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Blade internal surface defect detection technology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using a matrix array UT probe for improved inspection of cooling passages.</a:t>
            </a:r>
            <a:endParaRPr lang="it-IT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magine 6" descr="Immagine che contiene Modello in scala, motore&#10;&#10;Descrizione generata automaticamente">
            <a:extLst>
              <a:ext uri="{FF2B5EF4-FFF2-40B4-BE49-F238E27FC236}">
                <a16:creationId xmlns:a16="http://schemas.microsoft.com/office/drawing/2014/main" id="{7F813661-26A7-63E3-1817-5A84516FE3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410" y="1039615"/>
            <a:ext cx="4999571" cy="2859433"/>
          </a:xfrm>
          <a:prstGeom prst="rect">
            <a:avLst/>
          </a:prstGeom>
        </p:spPr>
      </p:pic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FD5DA7F-D391-4C7A-7BDA-3246E8ECC81B}"/>
              </a:ext>
            </a:extLst>
          </p:cNvPr>
          <p:cNvCxnSpPr/>
          <p:nvPr/>
        </p:nvCxnSpPr>
        <p:spPr>
          <a:xfrm>
            <a:off x="6709410" y="4430598"/>
            <a:ext cx="1378788" cy="216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5AF5CAE-85DF-0830-8338-144AD7B21E03}"/>
              </a:ext>
            </a:extLst>
          </p:cNvPr>
          <p:cNvCxnSpPr/>
          <p:nvPr/>
        </p:nvCxnSpPr>
        <p:spPr>
          <a:xfrm flipV="1">
            <a:off x="6709410" y="4732256"/>
            <a:ext cx="1378788" cy="311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6760F87-F133-7E66-6116-AA6C12881519}"/>
              </a:ext>
            </a:extLst>
          </p:cNvPr>
          <p:cNvSpPr txBox="1"/>
          <p:nvPr/>
        </p:nvSpPr>
        <p:spPr>
          <a:xfrm>
            <a:off x="8286161" y="4462748"/>
            <a:ext cx="246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!!</a:t>
            </a:r>
          </a:p>
        </p:txBody>
      </p:sp>
      <p:pic>
        <p:nvPicPr>
          <p:cNvPr id="15" name="Immagine 14" descr="Immagine che contiene Arte bambini, disegno, strumento di scrittura, design&#10;&#10;Descrizione generata automaticamente">
            <a:extLst>
              <a:ext uri="{FF2B5EF4-FFF2-40B4-BE49-F238E27FC236}">
                <a16:creationId xmlns:a16="http://schemas.microsoft.com/office/drawing/2014/main" id="{ED9D490F-A627-C4E3-A431-37FB09E5EB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0" t="2214" r="13623" b="3708"/>
          <a:stretch/>
        </p:blipFill>
        <p:spPr bwMode="auto">
          <a:xfrm>
            <a:off x="8102540" y="4804109"/>
            <a:ext cx="2827638" cy="20538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CBA69EA-C4EA-84FE-9176-B1CE67F683C0}"/>
              </a:ext>
            </a:extLst>
          </p:cNvPr>
          <p:cNvCxnSpPr/>
          <p:nvPr/>
        </p:nvCxnSpPr>
        <p:spPr>
          <a:xfrm flipV="1">
            <a:off x="6709410" y="3638746"/>
            <a:ext cx="3056759" cy="72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BBC15A7-640B-830D-EC4C-05C8A98E7AF1}"/>
              </a:ext>
            </a:extLst>
          </p:cNvPr>
          <p:cNvSpPr txBox="1"/>
          <p:nvPr/>
        </p:nvSpPr>
        <p:spPr>
          <a:xfrm>
            <a:off x="9935852" y="3429000"/>
            <a:ext cx="1773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Under </a:t>
            </a:r>
            <a:r>
              <a:rPr lang="it-IT" dirty="0" err="1"/>
              <a:t>patent</a:t>
            </a:r>
            <a:r>
              <a:rPr lang="it-IT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27536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FDB958FB-0489-7331-D7EE-EA86EFF745E9}"/>
              </a:ext>
            </a:extLst>
          </p:cNvPr>
          <p:cNvSpPr txBox="1"/>
          <p:nvPr/>
        </p:nvSpPr>
        <p:spPr>
          <a:xfrm>
            <a:off x="2444292" y="0"/>
            <a:ext cx="73034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Ni-</a:t>
            </a:r>
            <a:r>
              <a:rPr lang="it-IT" sz="3600" dirty="0" err="1"/>
              <a:t>based</a:t>
            </a:r>
            <a:r>
              <a:rPr lang="it-IT" sz="3600" dirty="0"/>
              <a:t> </a:t>
            </a:r>
            <a:r>
              <a:rPr lang="it-IT" sz="3600" dirty="0" err="1"/>
              <a:t>superalloy</a:t>
            </a:r>
            <a:r>
              <a:rPr lang="it-IT" sz="3600" dirty="0"/>
              <a:t> </a:t>
            </a:r>
            <a:r>
              <a:rPr lang="it-IT" sz="3600" dirty="0" err="1"/>
              <a:t>microstructure</a:t>
            </a:r>
            <a:r>
              <a:rPr lang="it-IT" sz="3600" dirty="0"/>
              <a:t> and </a:t>
            </a:r>
            <a:r>
              <a:rPr lang="it-IT" sz="3600" dirty="0" err="1"/>
              <a:t>importance</a:t>
            </a:r>
            <a:r>
              <a:rPr lang="it-IT" sz="3600" dirty="0"/>
              <a:t> of volume </a:t>
            </a:r>
            <a:r>
              <a:rPr lang="it-IT" sz="3600" dirty="0" err="1"/>
              <a:t>fraction</a:t>
            </a:r>
            <a:r>
              <a:rPr lang="it-IT" sz="3600" dirty="0"/>
              <a:t> </a:t>
            </a:r>
          </a:p>
        </p:txBody>
      </p:sp>
      <p:pic>
        <p:nvPicPr>
          <p:cNvPr id="8" name="Immagine 7" descr="Immagine che contiene schermata, Policromia, grafica, Elementi grafici&#10;&#10;Descrizione generata automaticamente">
            <a:extLst>
              <a:ext uri="{FF2B5EF4-FFF2-40B4-BE49-F238E27FC236}">
                <a16:creationId xmlns:a16="http://schemas.microsoft.com/office/drawing/2014/main" id="{25A91DB5-2132-CDBC-4DEC-2BD649154A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2" t="3819" r="19840" b="14710"/>
          <a:stretch/>
        </p:blipFill>
        <p:spPr bwMode="auto">
          <a:xfrm>
            <a:off x="3075658" y="1500187"/>
            <a:ext cx="6086475" cy="38576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43FE843-DA09-F6B7-E080-37A5AAFEAD52}"/>
              </a:ext>
            </a:extLst>
          </p:cNvPr>
          <p:cNvCxnSpPr/>
          <p:nvPr/>
        </p:nvCxnSpPr>
        <p:spPr>
          <a:xfrm>
            <a:off x="4676775" y="5181600"/>
            <a:ext cx="666750" cy="106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2D2CF30-8C76-A101-EE27-FBA0D6AA645E}"/>
              </a:ext>
            </a:extLst>
          </p:cNvPr>
          <p:cNvSpPr txBox="1"/>
          <p:nvPr/>
        </p:nvSpPr>
        <p:spPr>
          <a:xfrm>
            <a:off x="5343525" y="6170104"/>
            <a:ext cx="3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γ'</a:t>
            </a:r>
            <a:endParaRPr lang="it-IT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B4352FB-2BE2-4EA9-2E9E-07D4A8B68726}"/>
              </a:ext>
            </a:extLst>
          </p:cNvPr>
          <p:cNvCxnSpPr>
            <a:cxnSpLocks/>
          </p:cNvCxnSpPr>
          <p:nvPr/>
        </p:nvCxnSpPr>
        <p:spPr>
          <a:xfrm flipH="1">
            <a:off x="1431636" y="3796145"/>
            <a:ext cx="1995055" cy="295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506B613-7048-7EB7-BEC8-5767D94C1261}"/>
              </a:ext>
            </a:extLst>
          </p:cNvPr>
          <p:cNvSpPr txBox="1"/>
          <p:nvPr/>
        </p:nvSpPr>
        <p:spPr>
          <a:xfrm>
            <a:off x="1154545" y="3932012"/>
            <a:ext cx="277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γ </a:t>
            </a:r>
            <a:endParaRPr lang="it-IT" dirty="0"/>
          </a:p>
        </p:txBody>
      </p:sp>
      <p:pic>
        <p:nvPicPr>
          <p:cNvPr id="22" name="Immagine 21" descr="Immagine che contiene diagramma, cerchio, design&#10;&#10;Descrizione generata automaticamente">
            <a:extLst>
              <a:ext uri="{FF2B5EF4-FFF2-40B4-BE49-F238E27FC236}">
                <a16:creationId xmlns:a16="http://schemas.microsoft.com/office/drawing/2014/main" id="{12B0BA42-020F-7FC4-2CA1-C4D210942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40" y="4227576"/>
            <a:ext cx="2016652" cy="904703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8BB6BE1-4E0C-F70C-814B-A1337AD624D3}"/>
              </a:ext>
            </a:extLst>
          </p:cNvPr>
          <p:cNvSpPr txBox="1"/>
          <p:nvPr/>
        </p:nvSpPr>
        <p:spPr>
          <a:xfrm>
            <a:off x="427640" y="5132279"/>
            <a:ext cx="188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FCC </a:t>
            </a:r>
            <a:r>
              <a:rPr lang="it-IT" dirty="0" err="1"/>
              <a:t>structure</a:t>
            </a:r>
            <a:endParaRPr lang="it-IT" dirty="0"/>
          </a:p>
        </p:txBody>
      </p:sp>
      <p:pic>
        <p:nvPicPr>
          <p:cNvPr id="25" name="Immagine 24" descr="Immagine che contiene cerchio, Policromia, linea, Simmetria&#10;&#10;Descrizione generata automaticamente">
            <a:extLst>
              <a:ext uri="{FF2B5EF4-FFF2-40B4-BE49-F238E27FC236}">
                <a16:creationId xmlns:a16="http://schemas.microsoft.com/office/drawing/2014/main" id="{06610823-B46C-A9E6-0790-C691AC7F67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121" y="5892807"/>
            <a:ext cx="1016472" cy="923925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76CDC6B-6AA3-B584-768F-AF14BE4145D6}"/>
              </a:ext>
            </a:extLst>
          </p:cNvPr>
          <p:cNvSpPr txBox="1"/>
          <p:nvPr/>
        </p:nvSpPr>
        <p:spPr>
          <a:xfrm>
            <a:off x="6944642" y="6170103"/>
            <a:ext cx="2217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FCC-L1_2 </a:t>
            </a:r>
            <a:r>
              <a:rPr lang="it-IT" dirty="0" err="1"/>
              <a:t>structure</a:t>
            </a:r>
            <a:r>
              <a:rPr lang="it-IT" dirty="0"/>
              <a:t> (</a:t>
            </a:r>
            <a:r>
              <a:rPr lang="it-IT" dirty="0" err="1"/>
              <a:t>ordered</a:t>
            </a:r>
            <a:r>
              <a:rPr lang="it-IT" dirty="0"/>
              <a:t>)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9FDF03A5-3D2D-FC00-B22A-F99950E8A085}"/>
              </a:ext>
            </a:extLst>
          </p:cNvPr>
          <p:cNvSpPr txBox="1"/>
          <p:nvPr/>
        </p:nvSpPr>
        <p:spPr>
          <a:xfrm>
            <a:off x="10021455" y="3121891"/>
            <a:ext cx="1745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65%-70% in </a:t>
            </a:r>
            <a:r>
              <a:rPr lang="en-GB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γ'</a:t>
            </a:r>
            <a:r>
              <a:rPr lang="it-IT" b="1" dirty="0"/>
              <a:t> 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45B4B00A-F429-1347-3DF8-86CF04FBB5E4}"/>
              </a:ext>
            </a:extLst>
          </p:cNvPr>
          <p:cNvCxnSpPr/>
          <p:nvPr/>
        </p:nvCxnSpPr>
        <p:spPr>
          <a:xfrm>
            <a:off x="10677236" y="3428999"/>
            <a:ext cx="0" cy="514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5EAF1D5-D4C7-4354-5F6C-03E17A1EECE0}"/>
              </a:ext>
            </a:extLst>
          </p:cNvPr>
          <p:cNvSpPr txBox="1"/>
          <p:nvPr/>
        </p:nvSpPr>
        <p:spPr>
          <a:xfrm>
            <a:off x="10127282" y="3978178"/>
            <a:ext cx="1843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If</a:t>
            </a:r>
            <a:r>
              <a:rPr lang="it-IT" dirty="0"/>
              <a:t> more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, </a:t>
            </a:r>
            <a:r>
              <a:rPr lang="it-IT" dirty="0" err="1"/>
              <a:t>degradation</a:t>
            </a:r>
            <a:r>
              <a:rPr lang="it-IT" dirty="0"/>
              <a:t> of </a:t>
            </a:r>
            <a:r>
              <a:rPr lang="it-IT" dirty="0" err="1"/>
              <a:t>cuboids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high temperature!!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A80CCC7-5571-8BC3-309D-7D028FE64593}"/>
              </a:ext>
            </a:extLst>
          </p:cNvPr>
          <p:cNvSpPr txBox="1"/>
          <p:nvPr/>
        </p:nvSpPr>
        <p:spPr>
          <a:xfrm>
            <a:off x="250289" y="2011014"/>
            <a:ext cx="23626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Single Crystal </a:t>
            </a:r>
            <a:r>
              <a:rPr lang="it-IT" dirty="0" err="1"/>
              <a:t>supealloys</a:t>
            </a:r>
            <a:r>
              <a:rPr lang="it-IT" dirty="0"/>
              <a:t>: a key </a:t>
            </a:r>
            <a:r>
              <a:rPr lang="it-IT" dirty="0" err="1"/>
              <a:t>factor</a:t>
            </a:r>
            <a:r>
              <a:rPr lang="it-IT" dirty="0"/>
              <a:t> of the </a:t>
            </a:r>
            <a:r>
              <a:rPr lang="it-IT" dirty="0" err="1"/>
              <a:t>creep</a:t>
            </a:r>
            <a:r>
              <a:rPr lang="it-IT" dirty="0"/>
              <a:t> </a:t>
            </a:r>
            <a:r>
              <a:rPr lang="it-IT" dirty="0" err="1"/>
              <a:t>strength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9297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40F56B5-5E49-5E3C-9C56-BCBE0C9597E9}"/>
              </a:ext>
            </a:extLst>
          </p:cNvPr>
          <p:cNvSpPr txBox="1"/>
          <p:nvPr/>
        </p:nvSpPr>
        <p:spPr>
          <a:xfrm>
            <a:off x="1222042" y="0"/>
            <a:ext cx="103922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Lattice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misfit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parameter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γ/γ'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interfacial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coherency</a:t>
            </a:r>
            <a:endParaRPr lang="it-IT" sz="3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644A730-4139-FA9C-75E5-481A5B925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98" y="1510641"/>
            <a:ext cx="2655134" cy="1318284"/>
          </a:xfrm>
          <a:prstGeom prst="rect">
            <a:avLst/>
          </a:prstGeom>
        </p:spPr>
      </p:pic>
      <p:pic>
        <p:nvPicPr>
          <p:cNvPr id="6" name="Immagine 5" descr="Immagine che contiene diagramma, linea, bianco e nero&#10;&#10;Descrizione generata automaticamente">
            <a:extLst>
              <a:ext uri="{FF2B5EF4-FFF2-40B4-BE49-F238E27FC236}">
                <a16:creationId xmlns:a16="http://schemas.microsoft.com/office/drawing/2014/main" id="{567A067E-5E79-BE0E-9135-20FB8798B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47" y="1368054"/>
            <a:ext cx="6433035" cy="5220415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5D557633-5AF1-B105-05BD-2892E45EA46A}"/>
              </a:ext>
            </a:extLst>
          </p:cNvPr>
          <p:cNvCxnSpPr/>
          <p:nvPr/>
        </p:nvCxnSpPr>
        <p:spPr>
          <a:xfrm>
            <a:off x="9634682" y="1089891"/>
            <a:ext cx="663863" cy="877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5E49333-8AEA-D361-463A-2FD331E24B2F}"/>
              </a:ext>
            </a:extLst>
          </p:cNvPr>
          <p:cNvSpPr txBox="1"/>
          <p:nvPr/>
        </p:nvSpPr>
        <p:spPr>
          <a:xfrm>
            <a:off x="9531927" y="2087418"/>
            <a:ext cx="244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Closely</a:t>
            </a:r>
            <a:r>
              <a:rPr lang="it-IT" dirty="0"/>
              <a:t> </a:t>
            </a:r>
            <a:r>
              <a:rPr lang="it-IT" dirty="0" err="1"/>
              <a:t>affect</a:t>
            </a:r>
            <a:r>
              <a:rPr lang="it-IT" dirty="0"/>
              <a:t> </a:t>
            </a:r>
            <a:r>
              <a:rPr lang="it-IT" dirty="0" err="1"/>
              <a:t>creep</a:t>
            </a:r>
            <a:r>
              <a:rPr lang="it-IT" dirty="0"/>
              <a:t> </a:t>
            </a:r>
            <a:r>
              <a:rPr lang="it-IT" dirty="0" err="1"/>
              <a:t>properties</a:t>
            </a:r>
            <a:r>
              <a:rPr lang="it-IT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867526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D645B48-9F70-5D3F-653E-F4C454044D02}"/>
              </a:ext>
            </a:extLst>
          </p:cNvPr>
          <p:cNvSpPr txBox="1"/>
          <p:nvPr/>
        </p:nvSpPr>
        <p:spPr>
          <a:xfrm>
            <a:off x="1410561" y="0"/>
            <a:ext cx="9328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dirty="0" err="1"/>
              <a:t>Dislocation</a:t>
            </a:r>
            <a:r>
              <a:rPr lang="it-IT" sz="3600" dirty="0"/>
              <a:t> </a:t>
            </a:r>
            <a:r>
              <a:rPr lang="it-IT" sz="3600" dirty="0" err="1"/>
              <a:t>motion</a:t>
            </a:r>
            <a:r>
              <a:rPr lang="it-IT" sz="3600" dirty="0"/>
              <a:t>: a way to </a:t>
            </a:r>
            <a:r>
              <a:rPr lang="it-IT" sz="3600" dirty="0" err="1"/>
              <a:t>understand</a:t>
            </a:r>
            <a:r>
              <a:rPr lang="it-IT" sz="3600" dirty="0"/>
              <a:t> </a:t>
            </a:r>
            <a:r>
              <a:rPr lang="it-IT" sz="3600" dirty="0" err="1"/>
              <a:t>creep</a:t>
            </a:r>
            <a:r>
              <a:rPr lang="it-IT" sz="3600" dirty="0"/>
              <a:t> </a:t>
            </a:r>
            <a:r>
              <a:rPr lang="it-IT" sz="3600" dirty="0" err="1"/>
              <a:t>strength</a:t>
            </a:r>
            <a:r>
              <a:rPr lang="it-IT" sz="3600" dirty="0"/>
              <a:t> of Ni-</a:t>
            </a:r>
            <a:r>
              <a:rPr lang="it-IT" sz="3600" dirty="0" err="1"/>
              <a:t>based</a:t>
            </a:r>
            <a:r>
              <a:rPr lang="it-IT" sz="3600" dirty="0"/>
              <a:t> </a:t>
            </a:r>
            <a:r>
              <a:rPr lang="it-IT" sz="3600" dirty="0" err="1"/>
              <a:t>superalloy</a:t>
            </a:r>
            <a:endParaRPr lang="it-IT" sz="3600" dirty="0"/>
          </a:p>
        </p:txBody>
      </p:sp>
      <p:pic>
        <p:nvPicPr>
          <p:cNvPr id="3" name="Immagine 2" descr="Immagine che contiene diagramma, schizzo, Piano, Disegno tecnico&#10;&#10;Descrizione generata automaticamente">
            <a:extLst>
              <a:ext uri="{FF2B5EF4-FFF2-40B4-BE49-F238E27FC236}">
                <a16:creationId xmlns:a16="http://schemas.microsoft.com/office/drawing/2014/main" id="{9D0E6A30-D4ED-08D6-CE44-19396F845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10" y="1489665"/>
            <a:ext cx="3219739" cy="300827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A1A031-8FAB-F4E2-AA60-F973030F930F}"/>
              </a:ext>
            </a:extLst>
          </p:cNvPr>
          <p:cNvSpPr txBox="1"/>
          <p:nvPr/>
        </p:nvSpPr>
        <p:spPr>
          <a:xfrm>
            <a:off x="378690" y="445297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Schematic illustrations of dislocation movements in the γ channels</a:t>
            </a:r>
            <a:endParaRPr lang="it-IT" sz="1200" dirty="0"/>
          </a:p>
        </p:txBody>
      </p:sp>
      <p:pic>
        <p:nvPicPr>
          <p:cNvPr id="6" name="Immagine 5" descr="Immagine che contiene schermata, bianco e nero&#10;&#10;Descrizione generata automaticamente">
            <a:extLst>
              <a:ext uri="{FF2B5EF4-FFF2-40B4-BE49-F238E27FC236}">
                <a16:creationId xmlns:a16="http://schemas.microsoft.com/office/drawing/2014/main" id="{EC3A85CF-E64C-95D7-AF1F-6051E344B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390" y="2075115"/>
            <a:ext cx="6113254" cy="4070350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7548A851-31D8-B38A-02FA-EA8B70E5D930}"/>
              </a:ext>
            </a:extLst>
          </p:cNvPr>
          <p:cNvCxnSpPr/>
          <p:nvPr/>
        </p:nvCxnSpPr>
        <p:spPr>
          <a:xfrm>
            <a:off x="2078182" y="4729970"/>
            <a:ext cx="0" cy="811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7E0DCB0-F981-9405-1CCA-E0C6ECF045E1}"/>
              </a:ext>
            </a:extLst>
          </p:cNvPr>
          <p:cNvSpPr txBox="1"/>
          <p:nvPr/>
        </p:nvSpPr>
        <p:spPr>
          <a:xfrm>
            <a:off x="683491" y="5541818"/>
            <a:ext cx="2937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Diffusion</a:t>
            </a:r>
            <a:r>
              <a:rPr lang="it-IT" dirty="0"/>
              <a:t> of </a:t>
            </a:r>
            <a:r>
              <a:rPr lang="it-IT" dirty="0" err="1"/>
              <a:t>atoms</a:t>
            </a:r>
            <a:r>
              <a:rPr lang="it-IT" dirty="0"/>
              <a:t> and vacancies!!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56D5704-18A4-66D6-25F8-4D4CF45530AD}"/>
              </a:ext>
            </a:extLst>
          </p:cNvPr>
          <p:cNvSpPr txBox="1"/>
          <p:nvPr/>
        </p:nvSpPr>
        <p:spPr>
          <a:xfrm>
            <a:off x="6827689" y="1705783"/>
            <a:ext cx="362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APB = ANTI-PHASE BOUNDARIES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2CBE44C-CDD0-71C2-3867-4F9CBEBA5551}"/>
              </a:ext>
            </a:extLst>
          </p:cNvPr>
          <p:cNvSpPr txBox="1"/>
          <p:nvPr/>
        </p:nvSpPr>
        <p:spPr>
          <a:xfrm>
            <a:off x="6536743" y="6188149"/>
            <a:ext cx="4202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of dislocation motion in 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γ ‘ 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with forming APBs. 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02115CD3-A069-EF17-39CB-6F8BE264E953}"/>
              </a:ext>
            </a:extLst>
          </p:cNvPr>
          <p:cNvCxnSpPr>
            <a:cxnSpLocks/>
          </p:cNvCxnSpPr>
          <p:nvPr/>
        </p:nvCxnSpPr>
        <p:spPr>
          <a:xfrm flipV="1">
            <a:off x="3731491" y="3376017"/>
            <a:ext cx="480291" cy="309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8A39BE37-7246-B59F-815C-6E43E6A4966D}"/>
              </a:ext>
            </a:extLst>
          </p:cNvPr>
          <p:cNvSpPr txBox="1"/>
          <p:nvPr/>
        </p:nvSpPr>
        <p:spPr>
          <a:xfrm>
            <a:off x="4037604" y="2545020"/>
            <a:ext cx="165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 err="1"/>
              <a:t>This</a:t>
            </a:r>
            <a:r>
              <a:rPr lang="it-IT" sz="1200" b="1" dirty="0"/>
              <a:t> </a:t>
            </a:r>
            <a:r>
              <a:rPr lang="it-IT" sz="1200" b="1" dirty="0" err="1"/>
              <a:t>is</a:t>
            </a:r>
            <a:r>
              <a:rPr lang="it-IT" sz="1200" b="1" dirty="0"/>
              <a:t> the </a:t>
            </a:r>
            <a:r>
              <a:rPr lang="it-IT" sz="1200" b="1" dirty="0" err="1"/>
              <a:t>reason</a:t>
            </a:r>
            <a:r>
              <a:rPr lang="it-IT" sz="1200" b="1" dirty="0"/>
              <a:t> </a:t>
            </a:r>
            <a:r>
              <a:rPr lang="it-IT" sz="1200" b="1" dirty="0" err="1"/>
              <a:t>why</a:t>
            </a:r>
            <a:r>
              <a:rPr lang="it-IT" sz="1200" b="1" dirty="0"/>
              <a:t> </a:t>
            </a:r>
            <a:r>
              <a:rPr lang="it-IT" sz="1200" b="1" dirty="0" err="1"/>
              <a:t>interfacial</a:t>
            </a:r>
            <a:r>
              <a:rPr lang="it-IT" sz="1200" b="1" dirty="0"/>
              <a:t> </a:t>
            </a:r>
            <a:r>
              <a:rPr lang="it-IT" sz="1200" b="1" dirty="0" err="1"/>
              <a:t>coherency</a:t>
            </a:r>
            <a:r>
              <a:rPr lang="it-IT" sz="1200" b="1" dirty="0"/>
              <a:t> </a:t>
            </a:r>
            <a:r>
              <a:rPr lang="it-IT" sz="1200" b="1" dirty="0" err="1"/>
              <a:t>enanches</a:t>
            </a:r>
            <a:r>
              <a:rPr lang="it-IT" sz="1200" b="1" dirty="0"/>
              <a:t> </a:t>
            </a:r>
            <a:r>
              <a:rPr lang="it-IT" sz="1200" b="1" dirty="0" err="1"/>
              <a:t>creep</a:t>
            </a:r>
            <a:r>
              <a:rPr lang="it-IT" sz="1200" b="1" dirty="0"/>
              <a:t> </a:t>
            </a:r>
            <a:r>
              <a:rPr lang="it-IT" sz="1200" b="1" dirty="0" err="1"/>
              <a:t>strength</a:t>
            </a:r>
            <a:r>
              <a:rPr lang="it-IT" sz="1200" b="1" dirty="0"/>
              <a:t>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put penna 27">
                <a:extLst>
                  <a:ext uri="{FF2B5EF4-FFF2-40B4-BE49-F238E27FC236}">
                    <a16:creationId xmlns:a16="http://schemas.microsoft.com/office/drawing/2014/main" id="{B1FFD741-A679-A47E-D318-2037776D0EC8}"/>
                  </a:ext>
                </a:extLst>
              </p14:cNvPr>
              <p14:cNvContentPartPr/>
              <p14:nvPr/>
            </p14:nvContentPartPr>
            <p14:xfrm>
              <a:off x="9753567" y="2382444"/>
              <a:ext cx="1752120" cy="917640"/>
            </p14:xfrm>
          </p:contentPart>
        </mc:Choice>
        <mc:Fallback xmlns="">
          <p:pic>
            <p:nvPicPr>
              <p:cNvPr id="28" name="Input penna 27">
                <a:extLst>
                  <a:ext uri="{FF2B5EF4-FFF2-40B4-BE49-F238E27FC236}">
                    <a16:creationId xmlns:a16="http://schemas.microsoft.com/office/drawing/2014/main" id="{B1FFD741-A679-A47E-D318-2037776D0E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99567" y="2274804"/>
                <a:ext cx="1859760" cy="1133280"/>
              </a:xfrm>
              <a:prstGeom prst="rect">
                <a:avLst/>
              </a:prstGeom>
            </p:spPr>
          </p:pic>
        </mc:Fallback>
      </mc:AlternateContent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87FC14DC-821C-3111-D33A-E2BAC5A3A2C1}"/>
              </a:ext>
            </a:extLst>
          </p:cNvPr>
          <p:cNvCxnSpPr>
            <a:cxnSpLocks/>
          </p:cNvCxnSpPr>
          <p:nvPr/>
        </p:nvCxnSpPr>
        <p:spPr>
          <a:xfrm flipV="1">
            <a:off x="10448344" y="1543532"/>
            <a:ext cx="290944" cy="1181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DA92D95-E6EB-701D-363F-89446241F601}"/>
              </a:ext>
            </a:extLst>
          </p:cNvPr>
          <p:cNvSpPr txBox="1"/>
          <p:nvPr/>
        </p:nvSpPr>
        <p:spPr>
          <a:xfrm>
            <a:off x="10049164" y="712535"/>
            <a:ext cx="2078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 err="1"/>
              <a:t>Forming</a:t>
            </a:r>
            <a:r>
              <a:rPr lang="it-IT" sz="1200" b="1" dirty="0"/>
              <a:t> an APB </a:t>
            </a:r>
            <a:r>
              <a:rPr lang="it-IT" sz="1200" b="1" dirty="0" err="1"/>
              <a:t>within</a:t>
            </a:r>
            <a:r>
              <a:rPr lang="it-IT" sz="1200" b="1" dirty="0"/>
              <a:t> an </a:t>
            </a:r>
            <a:r>
              <a:rPr lang="it-IT" sz="1200" b="1" dirty="0" err="1"/>
              <a:t>excisting</a:t>
            </a:r>
            <a:r>
              <a:rPr lang="it-IT" sz="1200" b="1" dirty="0"/>
              <a:t> </a:t>
            </a:r>
            <a:r>
              <a:rPr lang="en-GB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γ ‘ crystal is the only way dislocation have to pass through this phase.</a:t>
            </a:r>
            <a:endParaRPr lang="it-IT" sz="1200" b="1" dirty="0"/>
          </a:p>
        </p:txBody>
      </p:sp>
    </p:spTree>
    <p:extLst>
      <p:ext uri="{BB962C8B-B14F-4D97-AF65-F5344CB8AC3E}">
        <p14:creationId xmlns:p14="http://schemas.microsoft.com/office/powerpoint/2010/main" val="247362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387D9A1-1288-7EC8-989D-DCD1ADF7DA9A}"/>
              </a:ext>
            </a:extLst>
          </p:cNvPr>
          <p:cNvSpPr txBox="1"/>
          <p:nvPr/>
        </p:nvSpPr>
        <p:spPr>
          <a:xfrm>
            <a:off x="0" y="0"/>
            <a:ext cx="12191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/>
              <a:t>In light of the key factors discussed, which specific alloying elements are crucial for achieving the exceptional strength exhibited by this superalloy?</a:t>
            </a:r>
            <a:endParaRPr lang="it-IT" sz="3000" dirty="0"/>
          </a:p>
        </p:txBody>
      </p:sp>
      <p:pic>
        <p:nvPicPr>
          <p:cNvPr id="5" name="Immagine 4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4DCFC7EC-A934-B4EA-2C30-E22ADA8CC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15" y="1811655"/>
            <a:ext cx="6196344" cy="2484120"/>
          </a:xfrm>
          <a:prstGeom prst="rect">
            <a:avLst/>
          </a:prstGeom>
        </p:spPr>
      </p:pic>
      <p:pic>
        <p:nvPicPr>
          <p:cNvPr id="6" name="Immagine 5" descr="Immagine che contiene testo, linea, Parallelo, Carattere&#10;&#10;Descrizione generata automaticamente">
            <a:extLst>
              <a:ext uri="{FF2B5EF4-FFF2-40B4-BE49-F238E27FC236}">
                <a16:creationId xmlns:a16="http://schemas.microsoft.com/office/drawing/2014/main" id="{00753AEC-63E9-1B91-D563-CC6186D94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868" y="1811655"/>
            <a:ext cx="2918460" cy="233934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CB23CD8-E332-80B1-21A8-EE9F7918AE09}"/>
              </a:ext>
            </a:extLst>
          </p:cNvPr>
          <p:cNvSpPr txBox="1"/>
          <p:nvPr/>
        </p:nvSpPr>
        <p:spPr>
          <a:xfrm>
            <a:off x="906781" y="4295775"/>
            <a:ext cx="6191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Effects of Ti and Ta on APB energy of Ni-SXs. The effects of Ti/Al ratios (a) and Ta/Al ratios (b) on APB energy in Ni-Al-X systems</a:t>
            </a:r>
            <a:endParaRPr lang="it-IT" sz="12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BE9A09B-FCBA-B446-C1BF-917CE0DB6166}"/>
              </a:ext>
            </a:extLst>
          </p:cNvPr>
          <p:cNvSpPr txBox="1"/>
          <p:nvPr/>
        </p:nvSpPr>
        <p:spPr>
          <a:xfrm>
            <a:off x="8074891" y="4295775"/>
            <a:ext cx="39508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Diffusion coefficients of some strengthening elements in Ni</a:t>
            </a:r>
            <a:endParaRPr lang="it-IT" sz="12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3E1E9A6-4427-C19B-433A-6730CE888FAE}"/>
              </a:ext>
            </a:extLst>
          </p:cNvPr>
          <p:cNvSpPr txBox="1"/>
          <p:nvPr/>
        </p:nvSpPr>
        <p:spPr>
          <a:xfrm>
            <a:off x="461818" y="4941455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r_Ti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r_Ta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r_Co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r_Cr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etc..</a:t>
            </a:r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305D7E2D-6FE9-257A-3379-8918B75AD795}"/>
              </a:ext>
            </a:extLst>
          </p:cNvPr>
          <p:cNvSpPr/>
          <p:nvPr/>
        </p:nvSpPr>
        <p:spPr>
          <a:xfrm>
            <a:off x="3315855" y="5108172"/>
            <a:ext cx="68349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EE4798F-4D88-CDEA-734F-37A531859011}"/>
              </a:ext>
            </a:extLst>
          </p:cNvPr>
          <p:cNvSpPr txBox="1"/>
          <p:nvPr/>
        </p:nvSpPr>
        <p:spPr>
          <a:xfrm>
            <a:off x="4156364" y="4941455"/>
            <a:ext cx="1939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a_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γ’ &gt; </a:t>
            </a:r>
            <a:r>
              <a:rPr lang="en-GB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a_γ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1434FE85-5477-D31E-3B4E-8433108B13A7}"/>
              </a:ext>
            </a:extLst>
          </p:cNvPr>
          <p:cNvSpPr/>
          <p:nvPr/>
        </p:nvSpPr>
        <p:spPr>
          <a:xfrm>
            <a:off x="5412509" y="5089516"/>
            <a:ext cx="68349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6B48A912-64BF-0ED4-9AE2-4BB5E8F8CD0D}"/>
                  </a:ext>
                </a:extLst>
              </p:cNvPr>
              <p:cNvSpPr txBox="1"/>
              <p:nvPr/>
            </p:nvSpPr>
            <p:spPr>
              <a:xfrm>
                <a:off x="6262255" y="4941455"/>
                <a:ext cx="1089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r>
                  <a:rPr lang="it-IT" dirty="0"/>
                  <a:t>&gt;0</a:t>
                </a: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6B48A912-64BF-0ED4-9AE2-4BB5E8F8C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255" y="4941455"/>
                <a:ext cx="1089889" cy="369332"/>
              </a:xfrm>
              <a:prstGeom prst="rect">
                <a:avLst/>
              </a:prstGeom>
              <a:blipFill>
                <a:blip r:embed="rId4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F50AAD1-7F42-1885-3522-A386C07E7FC9}"/>
              </a:ext>
            </a:extLst>
          </p:cNvPr>
          <p:cNvSpPr txBox="1"/>
          <p:nvPr/>
        </p:nvSpPr>
        <p:spPr>
          <a:xfrm>
            <a:off x="461818" y="5467927"/>
            <a:ext cx="436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Why</a:t>
            </a:r>
            <a:r>
              <a:rPr lang="it-IT" dirty="0"/>
              <a:t> Al, Ti, Ta in </a:t>
            </a:r>
            <a:r>
              <a:rPr lang="it-IT" dirty="0" err="1"/>
              <a:t>particular</a:t>
            </a:r>
            <a:r>
              <a:rPr lang="it-IT" dirty="0"/>
              <a:t>? </a:t>
            </a:r>
            <a:r>
              <a:rPr lang="it-IT" dirty="0" err="1"/>
              <a:t>Larger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Ni.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allows</a:t>
            </a:r>
            <a:r>
              <a:rPr lang="it-IT" dirty="0"/>
              <a:t> to have L1_2 </a:t>
            </a:r>
            <a:r>
              <a:rPr lang="it-IT" dirty="0" err="1"/>
              <a:t>structure</a:t>
            </a:r>
            <a:r>
              <a:rPr lang="it-IT" dirty="0"/>
              <a:t> (</a:t>
            </a:r>
            <a:r>
              <a:rPr lang="it-IT" dirty="0" err="1"/>
              <a:t>ordered</a:t>
            </a:r>
            <a:r>
              <a:rPr lang="it-IT" dirty="0"/>
              <a:t>)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77EFE9AA-DDFF-5B9B-D88C-513F53BD28BA}"/>
              </a:ext>
            </a:extLst>
          </p:cNvPr>
          <p:cNvSpPr txBox="1"/>
          <p:nvPr/>
        </p:nvSpPr>
        <p:spPr>
          <a:xfrm>
            <a:off x="8687065" y="4784559"/>
            <a:ext cx="2570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it-IT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%Co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energy of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dislocations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γ phase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554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E2735F-DF5C-1478-EF6C-63FF9DF959ED}"/>
              </a:ext>
            </a:extLst>
          </p:cNvPr>
          <p:cNvSpPr txBox="1"/>
          <p:nvPr/>
        </p:nvSpPr>
        <p:spPr>
          <a:xfrm>
            <a:off x="1410561" y="0"/>
            <a:ext cx="9328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dirty="0"/>
              <a:t>MGA1700: the </a:t>
            </a:r>
            <a:r>
              <a:rPr lang="it-IT" sz="3600" dirty="0" err="1"/>
              <a:t>result</a:t>
            </a:r>
            <a:r>
              <a:rPr lang="it-IT" sz="3600" dirty="0"/>
              <a:t> of joint </a:t>
            </a:r>
            <a:r>
              <a:rPr lang="it-IT" sz="3600" dirty="0" err="1"/>
              <a:t>research</a:t>
            </a:r>
            <a:r>
              <a:rPr lang="it-IT" sz="3600" dirty="0"/>
              <a:t> </a:t>
            </a:r>
            <a:r>
              <a:rPr lang="it-IT" sz="3600" dirty="0" err="1"/>
              <a:t>between</a:t>
            </a:r>
            <a:r>
              <a:rPr lang="it-IT" sz="3600" dirty="0"/>
              <a:t> NIMS and MHI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090DE20-0F0D-7E60-B24F-CEECE172D1A4}"/>
              </a:ext>
            </a:extLst>
          </p:cNvPr>
          <p:cNvSpPr txBox="1"/>
          <p:nvPr/>
        </p:nvSpPr>
        <p:spPr>
          <a:xfrm>
            <a:off x="-1" y="1200329"/>
            <a:ext cx="503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NIMS = National Institute for Materials Science</a:t>
            </a:r>
            <a:endParaRPr lang="it-IT" b="1" dirty="0"/>
          </a:p>
        </p:txBody>
      </p:sp>
      <p:pic>
        <p:nvPicPr>
          <p:cNvPr id="4" name="Immagine 3" descr="Immagine che contiene testo, ricevuta, Carattere, linea&#10;&#10;Descrizione generata automaticamente">
            <a:extLst>
              <a:ext uri="{FF2B5EF4-FFF2-40B4-BE49-F238E27FC236}">
                <a16:creationId xmlns:a16="http://schemas.microsoft.com/office/drawing/2014/main" id="{737224BC-5E19-172A-EC9F-C1FAA4D2D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875" y="1530235"/>
            <a:ext cx="8612097" cy="3559110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30F37E4-C6AA-C0F9-5404-CD8C8B9D7DC2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1561483" y="2159980"/>
            <a:ext cx="763573" cy="758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FBC0C0C-DC25-DCD6-6165-2DAE1AF09B3C}"/>
              </a:ext>
            </a:extLst>
          </p:cNvPr>
          <p:cNvSpPr txBox="1"/>
          <p:nvPr/>
        </p:nvSpPr>
        <p:spPr>
          <a:xfrm>
            <a:off x="0" y="1857078"/>
            <a:ext cx="156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NIMS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alloy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arentesi graffa aperta 8">
            <a:extLst>
              <a:ext uri="{FF2B5EF4-FFF2-40B4-BE49-F238E27FC236}">
                <a16:creationId xmlns:a16="http://schemas.microsoft.com/office/drawing/2014/main" id="{E447B375-933C-9201-E7D7-48DC6B4A747D}"/>
              </a:ext>
            </a:extLst>
          </p:cNvPr>
          <p:cNvSpPr/>
          <p:nvPr/>
        </p:nvSpPr>
        <p:spPr>
          <a:xfrm>
            <a:off x="2325056" y="2565333"/>
            <a:ext cx="226242" cy="7070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 descr="Immagine che contiene schermata, testo, modello, arte&#10;&#10;Descrizione generata automaticamente">
            <a:extLst>
              <a:ext uri="{FF2B5EF4-FFF2-40B4-BE49-F238E27FC236}">
                <a16:creationId xmlns:a16="http://schemas.microsoft.com/office/drawing/2014/main" id="{251514CC-866D-5F56-95FC-11F337798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26" y="5252959"/>
            <a:ext cx="3932702" cy="1116816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B05D37F-9492-59DE-D550-1D0C74A717E4}"/>
              </a:ext>
            </a:extLst>
          </p:cNvPr>
          <p:cNvSpPr txBox="1"/>
          <p:nvPr/>
        </p:nvSpPr>
        <p:spPr>
          <a:xfrm>
            <a:off x="865464" y="6371149"/>
            <a:ext cx="3371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mm x 200 mm x 20 mm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specimens</a:t>
            </a: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CCC87713-2919-B540-160D-90D16AAB1995}"/>
              </a:ext>
            </a:extLst>
          </p:cNvPr>
          <p:cNvCxnSpPr>
            <a:cxnSpLocks/>
          </p:cNvCxnSpPr>
          <p:nvPr/>
        </p:nvCxnSpPr>
        <p:spPr>
          <a:xfrm rot="10800000">
            <a:off x="782426" y="2370876"/>
            <a:ext cx="1772239" cy="16637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Immagine 32" descr="Immagine che contiene testo, Diagramma, diagramma, linea&#10;&#10;Descrizione generata automaticamente">
            <a:extLst>
              <a:ext uri="{FF2B5EF4-FFF2-40B4-BE49-F238E27FC236}">
                <a16:creationId xmlns:a16="http://schemas.microsoft.com/office/drawing/2014/main" id="{ADD53F59-E90F-496A-05F2-5C406AD2D6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525" y="4701254"/>
            <a:ext cx="4422896" cy="1668521"/>
          </a:xfrm>
          <a:prstGeom prst="rect">
            <a:avLst/>
          </a:prstGeom>
        </p:spPr>
      </p:pic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C5059F22-1EF1-919F-48AE-7C2435B3D45A}"/>
              </a:ext>
            </a:extLst>
          </p:cNvPr>
          <p:cNvCxnSpPr/>
          <p:nvPr/>
        </p:nvCxnSpPr>
        <p:spPr>
          <a:xfrm flipH="1">
            <a:off x="1236908" y="3582186"/>
            <a:ext cx="1201269" cy="1602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a gomito 56">
            <a:extLst>
              <a:ext uri="{FF2B5EF4-FFF2-40B4-BE49-F238E27FC236}">
                <a16:creationId xmlns:a16="http://schemas.microsoft.com/office/drawing/2014/main" id="{F89FA33A-320B-DFFC-6AE8-3B4506695B0B}"/>
              </a:ext>
            </a:extLst>
          </p:cNvPr>
          <p:cNvCxnSpPr>
            <a:cxnSpLocks/>
          </p:cNvCxnSpPr>
          <p:nvPr/>
        </p:nvCxnSpPr>
        <p:spPr>
          <a:xfrm>
            <a:off x="5920033" y="4506012"/>
            <a:ext cx="3235940" cy="176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BBC9185C-D1D4-FF2D-D342-9554B4518593}"/>
              </a:ext>
            </a:extLst>
          </p:cNvPr>
          <p:cNvSpPr txBox="1"/>
          <p:nvPr/>
        </p:nvSpPr>
        <p:spPr>
          <a:xfrm>
            <a:off x="7276167" y="6367031"/>
            <a:ext cx="3759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testing on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25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E32A45E-F225-5375-472F-D9BA51509800}"/>
              </a:ext>
            </a:extLst>
          </p:cNvPr>
          <p:cNvSpPr txBox="1"/>
          <p:nvPr/>
        </p:nvSpPr>
        <p:spPr>
          <a:xfrm>
            <a:off x="1431636" y="0"/>
            <a:ext cx="932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effectLst/>
                <a:ea typeface="Calibri" panose="020F0502020204030204" pitchFamily="34" charset="0"/>
              </a:rPr>
              <a:t>Typical casting defects in the SC superalloy</a:t>
            </a:r>
            <a:endParaRPr lang="it-IT" sz="3600" dirty="0"/>
          </a:p>
        </p:txBody>
      </p:sp>
      <p:pic>
        <p:nvPicPr>
          <p:cNvPr id="5" name="Immagine 4" descr="Immagine che contiene schermata, grigio&#10;&#10;Descrizione generata automaticamente">
            <a:extLst>
              <a:ext uri="{FF2B5EF4-FFF2-40B4-BE49-F238E27FC236}">
                <a16:creationId xmlns:a16="http://schemas.microsoft.com/office/drawing/2014/main" id="{1EBBA60F-4593-F0E6-CFB7-C70DA4A76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95" y="1775775"/>
            <a:ext cx="10769410" cy="330645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BA786F1-AADF-4E47-6CD7-401BB45D9AE9}"/>
              </a:ext>
            </a:extLst>
          </p:cNvPr>
          <p:cNvSpPr txBox="1"/>
          <p:nvPr/>
        </p:nvSpPr>
        <p:spPr>
          <a:xfrm>
            <a:off x="835842" y="5156462"/>
            <a:ext cx="10520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a)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freckle,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b)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stray grain, and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c)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re-crystallization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49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Carattere, navigazione&#10;&#10;Descrizione generata automaticamente">
            <a:extLst>
              <a:ext uri="{FF2B5EF4-FFF2-40B4-BE49-F238E27FC236}">
                <a16:creationId xmlns:a16="http://schemas.microsoft.com/office/drawing/2014/main" id="{7892F141-82CE-3167-4B37-13E0570A9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15" y="1298966"/>
            <a:ext cx="8204170" cy="426006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CCF2C8-7D55-ADB8-5318-0E240FC563E6}"/>
              </a:ext>
            </a:extLst>
          </p:cNvPr>
          <p:cNvSpPr txBox="1"/>
          <p:nvPr/>
        </p:nvSpPr>
        <p:spPr>
          <a:xfrm>
            <a:off x="1431636" y="0"/>
            <a:ext cx="932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ea typeface="Calibri" panose="020F0502020204030204" pitchFamily="34" charset="0"/>
              </a:rPr>
              <a:t>Freckle generation</a:t>
            </a:r>
            <a:endParaRPr lang="it-IT" sz="36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202D29-9123-22F0-D15D-550C195ADAC2}"/>
              </a:ext>
            </a:extLst>
          </p:cNvPr>
          <p:cNvSpPr txBox="1"/>
          <p:nvPr/>
        </p:nvSpPr>
        <p:spPr>
          <a:xfrm>
            <a:off x="2369735" y="5672281"/>
            <a:ext cx="7452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Basic mechanism and an example of prediction result of freckle generation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6636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6425735-F955-E3EF-2E96-53A0F67353EF}"/>
              </a:ext>
            </a:extLst>
          </p:cNvPr>
          <p:cNvSpPr txBox="1"/>
          <p:nvPr/>
        </p:nvSpPr>
        <p:spPr>
          <a:xfrm>
            <a:off x="1431636" y="0"/>
            <a:ext cx="932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ea typeface="Calibri" panose="020F0502020204030204" pitchFamily="34" charset="0"/>
              </a:rPr>
              <a:t>Casting process and stray grain</a:t>
            </a:r>
            <a:endParaRPr lang="it-IT" sz="3600" dirty="0"/>
          </a:p>
        </p:txBody>
      </p:sp>
      <p:pic>
        <p:nvPicPr>
          <p:cNvPr id="3" name="Immagine 2" descr="Immagine che contiene testo, diagramma, Carattere, ricevuta&#10;&#10;Descrizione generata automaticamente">
            <a:extLst>
              <a:ext uri="{FF2B5EF4-FFF2-40B4-BE49-F238E27FC236}">
                <a16:creationId xmlns:a16="http://schemas.microsoft.com/office/drawing/2014/main" id="{AE2FD33C-8195-F1E5-A2BE-DE2CF417E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62" y="901722"/>
            <a:ext cx="3927514" cy="252727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7132C7F1-95E1-F323-953F-A68232E03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554" y="2153082"/>
            <a:ext cx="3493240" cy="3465294"/>
          </a:xfrm>
          <a:prstGeom prst="rect">
            <a:avLst/>
          </a:prstGeom>
        </p:spPr>
      </p:pic>
      <p:sp>
        <p:nvSpPr>
          <p:cNvPr id="5" name="Ovale 4">
            <a:extLst>
              <a:ext uri="{FF2B5EF4-FFF2-40B4-BE49-F238E27FC236}">
                <a16:creationId xmlns:a16="http://schemas.microsoft.com/office/drawing/2014/main" id="{2699E303-78D0-379E-0EC6-466ED9DF8148}"/>
              </a:ext>
            </a:extLst>
          </p:cNvPr>
          <p:cNvSpPr/>
          <p:nvPr/>
        </p:nvSpPr>
        <p:spPr>
          <a:xfrm>
            <a:off x="1866507" y="2828042"/>
            <a:ext cx="452487" cy="5184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D7CE3F8D-9B45-F758-2727-4361B24EC964}"/>
              </a:ext>
            </a:extLst>
          </p:cNvPr>
          <p:cNvSpPr/>
          <p:nvPr/>
        </p:nvSpPr>
        <p:spPr>
          <a:xfrm>
            <a:off x="4675695" y="1659118"/>
            <a:ext cx="4675695" cy="49584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F19CC94B-E5CE-5E74-A3A5-11D9935D1DC8}"/>
              </a:ext>
            </a:extLst>
          </p:cNvPr>
          <p:cNvCxnSpPr>
            <a:stCxn id="5" idx="5"/>
            <a:endCxn id="6" idx="2"/>
          </p:cNvCxnSpPr>
          <p:nvPr/>
        </p:nvCxnSpPr>
        <p:spPr>
          <a:xfrm>
            <a:off x="2252729" y="3270587"/>
            <a:ext cx="2422966" cy="867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13ED1A3-673D-657D-2814-E958EFC98E4B}"/>
              </a:ext>
            </a:extLst>
          </p:cNvPr>
          <p:cNvSpPr txBox="1"/>
          <p:nvPr/>
        </p:nvSpPr>
        <p:spPr>
          <a:xfrm>
            <a:off x="4511976" y="1018665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seed and helical selector section of a turbine blade casting macro etched to highlight the stray grains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3557A75-0F2E-37FA-75E5-086F972CD4FB}"/>
              </a:ext>
            </a:extLst>
          </p:cNvPr>
          <p:cNvSpPr txBox="1"/>
          <p:nvPr/>
        </p:nvSpPr>
        <p:spPr>
          <a:xfrm>
            <a:off x="9841583" y="2375555"/>
            <a:ext cx="2007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olidification speed and thermal gradient to predict stray grain!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8343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476B6B6-71FB-D45E-A44E-91C101F5F176}"/>
              </a:ext>
            </a:extLst>
          </p:cNvPr>
          <p:cNvSpPr txBox="1"/>
          <p:nvPr/>
        </p:nvSpPr>
        <p:spPr>
          <a:xfrm>
            <a:off x="1431636" y="0"/>
            <a:ext cx="932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ea typeface="Calibri" panose="020F0502020204030204" pitchFamily="34" charset="0"/>
              </a:rPr>
              <a:t>Stray grain and re-crystallization</a:t>
            </a:r>
            <a:endParaRPr lang="it-IT" sz="3600" dirty="0"/>
          </a:p>
        </p:txBody>
      </p:sp>
      <p:pic>
        <p:nvPicPr>
          <p:cNvPr id="3" name="Immagine 2" descr="Immagine che contiene testo, schermata, Policromia, aqua&#10;&#10;Descrizione generata automaticamente">
            <a:extLst>
              <a:ext uri="{FF2B5EF4-FFF2-40B4-BE49-F238E27FC236}">
                <a16:creationId xmlns:a16="http://schemas.microsoft.com/office/drawing/2014/main" id="{3959502E-E0BF-E0FD-BA71-29383EF47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367" y="1489435"/>
            <a:ext cx="7993265" cy="275388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687DE6-9011-4086-D59C-BC1D9EAC8407}"/>
              </a:ext>
            </a:extLst>
          </p:cNvPr>
          <p:cNvSpPr txBox="1"/>
          <p:nvPr/>
        </p:nvSpPr>
        <p:spPr>
          <a:xfrm>
            <a:off x="2915240" y="424331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Predicted results of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a)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stray grain,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b)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re-crystallization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4790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4780</TotalTime>
  <Words>646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Symbol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SALVATORE PALUMBO</dc:creator>
  <cp:lastModifiedBy>SALVATORE PALUMBO</cp:lastModifiedBy>
  <cp:revision>9</cp:revision>
  <dcterms:created xsi:type="dcterms:W3CDTF">2024-07-09T11:21:54Z</dcterms:created>
  <dcterms:modified xsi:type="dcterms:W3CDTF">2024-07-13T22:09:43Z</dcterms:modified>
</cp:coreProperties>
</file>