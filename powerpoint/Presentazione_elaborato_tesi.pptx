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29FA8"/>
    <a:srgbClr val="B3D2E2"/>
    <a:srgbClr val="FFFFFF"/>
    <a:srgbClr val="89A4AD"/>
    <a:srgbClr val="97AFB7"/>
    <a:srgbClr val="C0CF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7-09T22:37:10.45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1,'11'1,"-1"0,0 0,0 1,0 1,0 0,0 0,13 7,68 39,-51-26,51 22,131 43,19 9,-223-89,-1 1,-1 1,1 1,-2 0,1 1,-2 0,1 1,-2 1,0 0,18 26,-20-27,1-1,0 0,0-1,1-1,1 0,0-1,0 0,1-1,24 10,-12-5,37 25,12 11,2-3,113 48,93 16,-191-76,-24-11,-35-13,-1 2,57 30,110 53,-115-57,48 15,-83-35,-1 2,51 29,378 264,-400-247,-53-44,1-1,52 34,298 177,-362-222,20 9,44 19,6 3,-8-1,158 58,-56-24,-48-17,-104-47,-1 2,0 1,-1 1,0 1,-1 1,21 19,-34-24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08F994-3674-4470-AD9F-B1E60A8EF5E8}" type="datetimeFigureOut">
              <a:rPr lang="it-IT" smtClean="0"/>
              <a:t>15/07/2024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022003-B7EC-4E2C-A083-162C5436327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555389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106E01-B8CD-24A9-EBF8-8B29FE329B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6D206AEE-6A4F-F093-6274-3834CEC006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7B95D8D-024C-0497-DD9D-2074CCC24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E5005F-191D-47E6-8994-127EBC0434F6}" type="datetimeFigureOut">
              <a:rPr lang="it-IT" smtClean="0"/>
              <a:t>15/07/2024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E3A4AC6-AC3A-5F6C-ECB8-82C9C021A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49AAA5F-D50F-6EB4-F8B6-EC7720707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D03714-1C85-4559-A680-A5FAE376AEB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53669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369519E-8014-825C-CE1C-3588648F5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015226F-221D-1D55-0727-F3569EBA2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22E5A79-2F56-57E9-3B8B-351E1F748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E5005F-191D-47E6-8994-127EBC0434F6}" type="datetimeFigureOut">
              <a:rPr lang="it-IT" smtClean="0"/>
              <a:t>15/07/2024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DA91BB2-174F-569B-0513-C5B4906B8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E26B3FF-5909-DB37-B8A2-7A3ECFAAA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D03714-1C85-4559-A680-A5FAE376AEB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6393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741E1B-EEA0-FD1E-67E3-6EBA2735F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D9E7B87-6CEA-8D8C-CC86-4DF2266EF7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A4F84D-7F6C-5D24-3A6F-A78D84B54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E5005F-191D-47E6-8994-127EBC0434F6}" type="datetimeFigureOut">
              <a:rPr lang="it-IT" smtClean="0"/>
              <a:t>15/07/2024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43225D1-FF73-2E76-BB7C-A99546BEA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33F023B-F597-7957-3A3E-B5A7957FB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D03714-1C85-4559-A680-A5FAE376AEB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26541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4E1D88C-B8AD-665B-D858-632712099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B65D1FB-7D5B-56C6-E2CF-AD4F6E1D29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3EEFCA2-3195-AFA5-9C18-E665FEC29A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97BD2A3-2C82-E752-3E26-124CEDD1E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E5005F-191D-47E6-8994-127EBC0434F6}" type="datetimeFigureOut">
              <a:rPr lang="it-IT" smtClean="0"/>
              <a:t>15/07/2024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9D559A2-99E1-05C4-DFD4-E8E6411FB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8DBFC46C-3299-9F23-E755-54A40F938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D03714-1C85-4559-A680-A5FAE376AEB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2290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0A9BD8-AE87-3091-FF42-F90744F6D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E5BDACD-D612-6AAF-42ED-0DF0A95204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25AAEAA-51A5-98E0-4002-E3993CE56B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35797C5-9838-88DE-6D09-E26F5B1D1D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184BFA4D-0796-7B61-CECD-6222B8F2D1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B610D0C-7B13-A3B4-F7B8-F6E074722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E5005F-191D-47E6-8994-127EBC0434F6}" type="datetimeFigureOut">
              <a:rPr lang="it-IT" smtClean="0"/>
              <a:t>15/07/2024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E49E0439-5B70-5B34-79A6-0ADDF8527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051283EF-C154-CADF-1E5D-680DAD86F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D03714-1C85-4559-A680-A5FAE376AEB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56438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319C9D-85AC-CFC3-755D-1F1BCFF7B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AFFAF0BA-1583-2675-FC24-E7207CDD5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E5005F-191D-47E6-8994-127EBC0434F6}" type="datetimeFigureOut">
              <a:rPr lang="it-IT" smtClean="0"/>
              <a:t>15/07/2024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08E1CFF0-3DF3-DF4A-EB3E-2785E365E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10BE36D-F554-C2E8-42EE-B8A531130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D03714-1C85-4559-A680-A5FAE376AEB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67376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08E3B191-15D9-C5A8-79EA-174338947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E5005F-191D-47E6-8994-127EBC0434F6}" type="datetimeFigureOut">
              <a:rPr lang="it-IT" smtClean="0"/>
              <a:t>15/07/2024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950C2A15-ECAB-9A5C-989D-9B54388AD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0F3D90C-4A3E-0C1D-6836-3D2B4A442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D03714-1C85-4559-A680-A5FAE376AEB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179894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432C408-2ECD-CDB1-B01F-000BC3F8B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187635A-F948-B756-10B9-B135E9771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C071E64-F908-937B-90ED-4D40195176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95D17F4-A9E8-16B7-0AF8-AACD9A4D9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E5005F-191D-47E6-8994-127EBC0434F6}" type="datetimeFigureOut">
              <a:rPr lang="it-IT" smtClean="0"/>
              <a:t>15/07/2024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B17D087-3B2E-1167-7C67-BBC4A6AC9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DD1ECE8-13A5-C9EF-B0ED-BB5CE8C64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D03714-1C85-4559-A680-A5FAE376AEB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16079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6A1333-5588-0C6C-6142-B59599EAB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69B4307-D06E-713C-DFB2-9DFDC3B062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113B6F26-2757-74E3-C8D3-FB3534975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1C7F891-5A69-B7D5-6770-13AACCFCE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E5005F-191D-47E6-8994-127EBC0434F6}" type="datetimeFigureOut">
              <a:rPr lang="it-IT" smtClean="0"/>
              <a:t>15/07/2024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020E12B-BF0A-B3D1-47CA-20F6E4A34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B666A1A-96ED-E4DA-3945-BB0F8D8D1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D03714-1C85-4559-A680-A5FAE376AEB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25566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16BF031-299C-B156-5032-02770D998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404B4755-79D4-223E-65A8-19FCAA7FFF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55EB93E-EB10-3F47-4C6F-8616C7A2D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E5005F-191D-47E6-8994-127EBC0434F6}" type="datetimeFigureOut">
              <a:rPr lang="it-IT" smtClean="0"/>
              <a:t>15/07/2024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1CB99A4-D0B8-02D7-7749-992184ACE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D298C86-8E9C-1870-BB94-3FF04C6C3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D03714-1C85-4559-A680-A5FAE376AEB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10779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B185E4D-15B7-9171-2C00-4B45414D55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91D02C51-B848-5219-4CD4-E5A38B6F7B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FF715D5-4FAB-A871-3867-BD5A1B609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E5005F-191D-47E6-8994-127EBC0434F6}" type="datetimeFigureOut">
              <a:rPr lang="it-IT" smtClean="0"/>
              <a:t>15/07/2024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A8AB69B-44C1-0988-2D0A-70CBD84DC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A0DB63C-2E40-0359-3BEC-C21A4715A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D03714-1C85-4559-A680-A5FAE376AEB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38912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3690101-E1B6-A1BE-7FC1-862BF9E15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51AF6F0-ACE9-E8D4-6BCA-BE72E585E5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3151C64-2593-590B-9F00-0D91BBCE52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E5005F-191D-47E6-8994-127EBC0434F6}" type="datetimeFigureOut">
              <a:rPr lang="it-IT" smtClean="0"/>
              <a:t>15/07/2024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8B828B2-70CA-7350-1099-29A8AACE11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8975A06-6D71-BC36-3867-4071FF3701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D03714-1C85-4559-A680-A5FAE376AEB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64728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customXml" Target="../ink/ink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24.png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29FA8">
            <a:alpha val="6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 descr="Immagine che contiene motore&#10;&#10;Descrizione generata automaticamente con attendibilità media">
            <a:extLst>
              <a:ext uri="{FF2B5EF4-FFF2-40B4-BE49-F238E27FC236}">
                <a16:creationId xmlns:a16="http://schemas.microsoft.com/office/drawing/2014/main" id="{AE3277FE-3E07-2604-84DD-2BAE3887200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165"/>
          <a:stretch/>
        </p:blipFill>
        <p:spPr>
          <a:xfrm>
            <a:off x="6096000" y="-6417"/>
            <a:ext cx="6096000" cy="6864417"/>
          </a:xfrm>
          <a:prstGeom prst="rect">
            <a:avLst/>
          </a:prstGeom>
          <a:noFill/>
        </p:spPr>
      </p:pic>
      <p:pic>
        <p:nvPicPr>
          <p:cNvPr id="11" name="Immagine 10" descr="Immagine che contiene nero, oscurità&#10;&#10;Descrizione generata automaticamente">
            <a:extLst>
              <a:ext uri="{FF2B5EF4-FFF2-40B4-BE49-F238E27FC236}">
                <a16:creationId xmlns:a16="http://schemas.microsoft.com/office/drawing/2014/main" id="{6DCD2D18-DCDD-54E8-C294-B5679F0EFF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23825" y="142876"/>
            <a:ext cx="1162050" cy="1157588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26AFB09-6CCC-09E1-3E33-850678C5AB7F}"/>
              </a:ext>
            </a:extLst>
          </p:cNvPr>
          <p:cNvSpPr txBox="1"/>
          <p:nvPr/>
        </p:nvSpPr>
        <p:spPr>
          <a:xfrm>
            <a:off x="1285875" y="16385"/>
            <a:ext cx="4645890" cy="16783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it-IT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Università degli Studi di Napoli Federico II</a:t>
            </a:r>
            <a:endParaRPr lang="it-IT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it-IT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Scuola Politecnica e delle Scienze di Base</a:t>
            </a:r>
            <a:endParaRPr lang="it-IT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it-IT" sz="1200" b="1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Dipartimento di Ingegneria Industriale</a:t>
            </a:r>
            <a:endParaRPr lang="it-IT" sz="1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it-IT" sz="1200" b="1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Corso di Laurea in Ingegneria Meccanica</a:t>
            </a:r>
            <a:endParaRPr lang="it-IT" sz="1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it-IT" sz="1200" b="1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Classe di laurea L 09</a:t>
            </a:r>
            <a:endParaRPr lang="it-IT" sz="1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2C4593A-C6E5-42AB-4225-8F348A48E605}"/>
              </a:ext>
            </a:extLst>
          </p:cNvPr>
          <p:cNvSpPr txBox="1"/>
          <p:nvPr/>
        </p:nvSpPr>
        <p:spPr>
          <a:xfrm>
            <a:off x="123825" y="4658630"/>
            <a:ext cx="6096000" cy="19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it-IT" sz="18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Relatore:</a:t>
            </a:r>
            <a:endParaRPr lang="it-IT" sz="14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it-IT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Ch.mo Prof. Ing. Antonio Formisano</a:t>
            </a:r>
            <a:endParaRPr lang="it-IT" sz="14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it-IT" sz="18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Candidato:</a:t>
            </a:r>
            <a:endParaRPr lang="it-IT" sz="14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it-IT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Salvatore Palumbo</a:t>
            </a:r>
            <a:endParaRPr lang="it-IT" sz="14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it-IT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N47/7322</a:t>
            </a:r>
            <a:endParaRPr lang="it-IT" sz="14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EC5DF9C4-5629-1A20-6CF0-7BB73CED49D5}"/>
              </a:ext>
            </a:extLst>
          </p:cNvPr>
          <p:cNvSpPr txBox="1"/>
          <p:nvPr/>
        </p:nvSpPr>
        <p:spPr>
          <a:xfrm>
            <a:off x="4771592" y="1820479"/>
            <a:ext cx="2896466" cy="7633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it-IT" sz="1400" b="1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Elaborato di laurea in</a:t>
            </a: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it-IT" sz="2200" b="1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Tecnologia meccanica</a:t>
            </a:r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8CB1C0FD-2098-1E46-15C7-FB2FA098D7F2}"/>
              </a:ext>
            </a:extLst>
          </p:cNvPr>
          <p:cNvSpPr/>
          <p:nvPr/>
        </p:nvSpPr>
        <p:spPr>
          <a:xfrm>
            <a:off x="0" y="2619897"/>
            <a:ext cx="12192000" cy="171816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48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Superalloys and casting process</a:t>
            </a:r>
            <a:endParaRPr lang="it-IT" sz="4800" kern="1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48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for ultra-high temperature gas turbines</a:t>
            </a:r>
            <a:endParaRPr lang="it-IT" sz="4800" kern="1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6C8CF257-8B5B-737F-31BB-E634BE2DD43D}"/>
              </a:ext>
            </a:extLst>
          </p:cNvPr>
          <p:cNvSpPr txBox="1"/>
          <p:nvPr/>
        </p:nvSpPr>
        <p:spPr>
          <a:xfrm>
            <a:off x="8336436" y="6441329"/>
            <a:ext cx="3855564" cy="3737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it-IT" b="1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ANNO ACCADEMICO 2023/2024</a:t>
            </a:r>
            <a:endParaRPr lang="it-IT" sz="1400" b="1" kern="1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4287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C0CAA927-D7BC-4F55-F867-C82041C7A1C1}"/>
              </a:ext>
            </a:extLst>
          </p:cNvPr>
          <p:cNvSpPr txBox="1"/>
          <p:nvPr/>
        </p:nvSpPr>
        <p:spPr>
          <a:xfrm>
            <a:off x="4062603" y="0"/>
            <a:ext cx="40667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36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Why</a:t>
            </a:r>
            <a:r>
              <a:rPr lang="it-IT" sz="36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it-IT" sz="36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increasing</a:t>
            </a:r>
            <a:r>
              <a:rPr lang="it-IT" sz="36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TIT?</a:t>
            </a:r>
            <a:endParaRPr lang="it-IT" sz="3600" dirty="0"/>
          </a:p>
        </p:txBody>
      </p:sp>
      <p:pic>
        <p:nvPicPr>
          <p:cNvPr id="8" name="Immagine 7" descr="Immagine che contiene diagramma, linea, Diagramma, Piano&#10;&#10;Descrizione generata automaticamente">
            <a:extLst>
              <a:ext uri="{FF2B5EF4-FFF2-40B4-BE49-F238E27FC236}">
                <a16:creationId xmlns:a16="http://schemas.microsoft.com/office/drawing/2014/main" id="{D2B58F3A-7B06-B434-DEF3-463E5C5261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9947" y="3380509"/>
            <a:ext cx="6564977" cy="3477491"/>
          </a:xfrm>
          <a:prstGeom prst="rect">
            <a:avLst/>
          </a:prstGeom>
        </p:spPr>
      </p:pic>
      <p:pic>
        <p:nvPicPr>
          <p:cNvPr id="10" name="Immagine 9" descr="Immagine che contiene testo, diagramma, schermata, Piano&#10;&#10;Descrizione generata automaticamente">
            <a:extLst>
              <a:ext uri="{FF2B5EF4-FFF2-40B4-BE49-F238E27FC236}">
                <a16:creationId xmlns:a16="http://schemas.microsoft.com/office/drawing/2014/main" id="{7D1D070D-F3F9-48F3-CA46-886A867917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463" y="747204"/>
            <a:ext cx="5041484" cy="2532431"/>
          </a:xfrm>
          <a:prstGeom prst="rect">
            <a:avLst/>
          </a:prstGeom>
        </p:spPr>
      </p:pic>
      <p:pic>
        <p:nvPicPr>
          <p:cNvPr id="12" name="Immagine 11" descr="Immagine che contiene testo, linea, schermata, Diagramma&#10;&#10;Descrizione generata automaticamente">
            <a:extLst>
              <a:ext uri="{FF2B5EF4-FFF2-40B4-BE49-F238E27FC236}">
                <a16:creationId xmlns:a16="http://schemas.microsoft.com/office/drawing/2014/main" id="{7AF3BD7C-6C49-BDBE-7EC2-DC55F0EC3C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893" y="3380508"/>
            <a:ext cx="4073235" cy="3477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2499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53AF86D2-9C15-DC9A-C825-6E2A68AB76C7}"/>
              </a:ext>
            </a:extLst>
          </p:cNvPr>
          <p:cNvSpPr txBox="1"/>
          <p:nvPr/>
        </p:nvSpPr>
        <p:spPr>
          <a:xfrm>
            <a:off x="2425826" y="0"/>
            <a:ext cx="85671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600" dirty="0"/>
              <a:t> Mitsubishi Heavy Industries (MHI) project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8E68254-FDFE-4E37-6F2F-246F14C3A0B8}"/>
              </a:ext>
            </a:extLst>
          </p:cNvPr>
          <p:cNvSpPr txBox="1"/>
          <p:nvPr/>
        </p:nvSpPr>
        <p:spPr>
          <a:xfrm>
            <a:off x="614934" y="1326068"/>
            <a:ext cx="6094476" cy="5145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000" b="1" kern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High-performance compressors with improved boundary layer control</a:t>
            </a:r>
            <a:r>
              <a:rPr lang="en-GB" sz="1000" kern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to increase pressure ratio and efficiency.</a:t>
            </a:r>
            <a:endParaRPr lang="it-IT" sz="1000" kern="1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000" b="1" kern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Lean premix combustors with reduced NOx emissions</a:t>
            </a:r>
            <a:r>
              <a:rPr lang="en-GB" sz="1000" kern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achieved through improved flame position evaluation using optical measurement and large-scale unsteady numerical simulation.</a:t>
            </a:r>
            <a:endParaRPr lang="it-IT" sz="1000" kern="1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000" b="1" kern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High-performance turbines with optimized exhaust diffusers</a:t>
            </a:r>
            <a:r>
              <a:rPr lang="en-GB" sz="1000" kern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to improve efficiency by reducing turbine blade exit velocity.</a:t>
            </a:r>
            <a:endParaRPr lang="it-IT" sz="1000" kern="1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000" b="1" kern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Advanced thermal barrier coatings (TBC) for high-temperature components</a:t>
            </a:r>
            <a:r>
              <a:rPr lang="en-GB" sz="1000" kern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with improved thermal conductivity and high-temperature stability.</a:t>
            </a:r>
            <a:endParaRPr lang="it-IT" sz="1000" kern="1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000" b="1" kern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Welding repair technology for single-crystal turbine blades</a:t>
            </a:r>
            <a:r>
              <a:rPr lang="en-GB" sz="1000" kern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using Laser Metal Deposition (LMD).</a:t>
            </a:r>
            <a:endParaRPr lang="it-IT" sz="1000" kern="1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000" b="1" kern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Additive manufacturing for complex cooling structures in hot parts</a:t>
            </a:r>
            <a:r>
              <a:rPr lang="en-GB" sz="1000" kern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to reduce cooling air volume.</a:t>
            </a:r>
            <a:endParaRPr lang="it-IT" sz="1000" kern="1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000" b="1" u="sng" kern="0">
                <a:effectLst/>
                <a:highlight>
                  <a:srgbClr val="FFFF00"/>
                </a:highlight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Super heat-resistant materials for turbine blades</a:t>
            </a:r>
            <a:r>
              <a:rPr lang="en-GB" sz="1000" u="sng" kern="0">
                <a:effectLst/>
                <a:highlight>
                  <a:srgbClr val="FFFF00"/>
                </a:highlight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with excellent creep strength and dwell thermo-mechanical fatigue strength</a:t>
            </a:r>
            <a:r>
              <a:rPr lang="en-GB" sz="1000" kern="0">
                <a:effectLst/>
                <a:highlight>
                  <a:srgbClr val="FFFF00"/>
                </a:highlight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it-IT" sz="1000" kern="100">
              <a:effectLst/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000" b="1" u="sng" kern="0">
                <a:effectLst/>
                <a:highlight>
                  <a:srgbClr val="FFFF00"/>
                </a:highlight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Casting process simulations for directionally solidified and single crystal blades</a:t>
            </a:r>
            <a:r>
              <a:rPr lang="en-GB" sz="1000" u="sng" kern="0">
                <a:effectLst/>
                <a:highlight>
                  <a:srgbClr val="FFFF00"/>
                </a:highlight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to predict casting defects and optimize casting processes.</a:t>
            </a:r>
            <a:endParaRPr lang="it-IT" sz="1000" kern="100">
              <a:effectLst/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000" b="1" kern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Wireless power supply technology for high-speed blade vibration measurement</a:t>
            </a:r>
            <a:r>
              <a:rPr lang="en-GB" sz="1000" kern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eliminating the need for battery changes.</a:t>
            </a:r>
            <a:endParaRPr lang="it-IT" sz="1000" kern="1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000" b="1" kern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Blade internal surface defect detection technology</a:t>
            </a:r>
            <a:r>
              <a:rPr lang="en-GB" sz="1000" kern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using a matrix array UT probe for improved inspection of cooling passages.</a:t>
            </a:r>
            <a:endParaRPr lang="it-IT" sz="10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Immagine 6" descr="Immagine che contiene Modello in scala, motore&#10;&#10;Descrizione generata automaticamente">
            <a:extLst>
              <a:ext uri="{FF2B5EF4-FFF2-40B4-BE49-F238E27FC236}">
                <a16:creationId xmlns:a16="http://schemas.microsoft.com/office/drawing/2014/main" id="{7F813661-26A7-63E3-1817-5A84516FE3A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9410" y="1039615"/>
            <a:ext cx="4999571" cy="2859433"/>
          </a:xfrm>
          <a:prstGeom prst="rect">
            <a:avLst/>
          </a:prstGeom>
        </p:spPr>
      </p:pic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3FD5DA7F-D391-4C7A-7BDA-3246E8ECC81B}"/>
              </a:ext>
            </a:extLst>
          </p:cNvPr>
          <p:cNvCxnSpPr/>
          <p:nvPr/>
        </p:nvCxnSpPr>
        <p:spPr>
          <a:xfrm>
            <a:off x="6709410" y="4430598"/>
            <a:ext cx="1378788" cy="2168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75AF5CAE-85DF-0830-8338-144AD7B21E03}"/>
              </a:ext>
            </a:extLst>
          </p:cNvPr>
          <p:cNvCxnSpPr/>
          <p:nvPr/>
        </p:nvCxnSpPr>
        <p:spPr>
          <a:xfrm flipV="1">
            <a:off x="6709410" y="4732256"/>
            <a:ext cx="1378788" cy="3110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6760F87-F133-7E66-6116-AA6C12881519}"/>
              </a:ext>
            </a:extLst>
          </p:cNvPr>
          <p:cNvSpPr txBox="1"/>
          <p:nvPr/>
        </p:nvSpPr>
        <p:spPr>
          <a:xfrm>
            <a:off x="8286161" y="4462748"/>
            <a:ext cx="24603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Structural</a:t>
            </a:r>
            <a:r>
              <a:rPr lang="it-IT" dirty="0"/>
              <a:t> </a:t>
            </a:r>
            <a:r>
              <a:rPr lang="it-IT" dirty="0" err="1"/>
              <a:t>problem</a:t>
            </a:r>
            <a:r>
              <a:rPr lang="it-IT" dirty="0"/>
              <a:t>!!</a:t>
            </a:r>
          </a:p>
        </p:txBody>
      </p:sp>
      <p:pic>
        <p:nvPicPr>
          <p:cNvPr id="15" name="Immagine 14" descr="Immagine che contiene Arte bambini, disegno, strumento di scrittura, design&#10;&#10;Descrizione generata automaticamente">
            <a:extLst>
              <a:ext uri="{FF2B5EF4-FFF2-40B4-BE49-F238E27FC236}">
                <a16:creationId xmlns:a16="http://schemas.microsoft.com/office/drawing/2014/main" id="{ED9D490F-A627-C4E3-A431-37FB09E5EBF2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40" t="2214" r="13623" b="3708"/>
          <a:stretch/>
        </p:blipFill>
        <p:spPr bwMode="auto">
          <a:xfrm>
            <a:off x="8102540" y="4804109"/>
            <a:ext cx="2827638" cy="2053891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1CBA69EA-C4EA-84FE-9176-B1CE67F683C0}"/>
              </a:ext>
            </a:extLst>
          </p:cNvPr>
          <p:cNvCxnSpPr/>
          <p:nvPr/>
        </p:nvCxnSpPr>
        <p:spPr>
          <a:xfrm flipV="1">
            <a:off x="6709410" y="3638746"/>
            <a:ext cx="3056759" cy="7258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DBBC15A7-640B-830D-EC4C-05C8A98E7AF1}"/>
              </a:ext>
            </a:extLst>
          </p:cNvPr>
          <p:cNvSpPr txBox="1"/>
          <p:nvPr/>
        </p:nvSpPr>
        <p:spPr>
          <a:xfrm>
            <a:off x="9935852" y="3429000"/>
            <a:ext cx="1773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Under </a:t>
            </a:r>
            <a:r>
              <a:rPr lang="it-IT" dirty="0" err="1"/>
              <a:t>patent</a:t>
            </a:r>
            <a:r>
              <a:rPr lang="it-IT" dirty="0"/>
              <a:t>!!</a:t>
            </a:r>
          </a:p>
        </p:txBody>
      </p:sp>
    </p:spTree>
    <p:extLst>
      <p:ext uri="{BB962C8B-B14F-4D97-AF65-F5344CB8AC3E}">
        <p14:creationId xmlns:p14="http://schemas.microsoft.com/office/powerpoint/2010/main" val="3275368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sellaDiTesto 6">
            <a:extLst>
              <a:ext uri="{FF2B5EF4-FFF2-40B4-BE49-F238E27FC236}">
                <a16:creationId xmlns:a16="http://schemas.microsoft.com/office/drawing/2014/main" id="{FDB958FB-0489-7331-D7EE-EA86EFF745E9}"/>
              </a:ext>
            </a:extLst>
          </p:cNvPr>
          <p:cNvSpPr txBox="1"/>
          <p:nvPr/>
        </p:nvSpPr>
        <p:spPr>
          <a:xfrm>
            <a:off x="2444292" y="0"/>
            <a:ext cx="73034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600" dirty="0"/>
              <a:t>Ni-</a:t>
            </a:r>
            <a:r>
              <a:rPr lang="it-IT" sz="3600" dirty="0" err="1"/>
              <a:t>based</a:t>
            </a:r>
            <a:r>
              <a:rPr lang="it-IT" sz="3600" dirty="0"/>
              <a:t> </a:t>
            </a:r>
            <a:r>
              <a:rPr lang="it-IT" sz="3600" dirty="0" err="1"/>
              <a:t>superalloy</a:t>
            </a:r>
            <a:r>
              <a:rPr lang="it-IT" sz="3600" dirty="0"/>
              <a:t> </a:t>
            </a:r>
            <a:r>
              <a:rPr lang="it-IT" sz="3600" dirty="0" err="1"/>
              <a:t>microstructure</a:t>
            </a:r>
            <a:r>
              <a:rPr lang="it-IT" sz="3600" dirty="0"/>
              <a:t> and </a:t>
            </a:r>
            <a:r>
              <a:rPr lang="it-IT" sz="3600" dirty="0" err="1"/>
              <a:t>importance</a:t>
            </a:r>
            <a:r>
              <a:rPr lang="it-IT" sz="3600" dirty="0"/>
              <a:t> of volume </a:t>
            </a:r>
            <a:r>
              <a:rPr lang="it-IT" sz="3600" dirty="0" err="1"/>
              <a:t>fraction</a:t>
            </a:r>
            <a:r>
              <a:rPr lang="it-IT" sz="3600" dirty="0"/>
              <a:t> </a:t>
            </a:r>
          </a:p>
        </p:txBody>
      </p:sp>
      <p:pic>
        <p:nvPicPr>
          <p:cNvPr id="8" name="Immagine 7" descr="Immagine che contiene schermata, Policromia, grafica, Elementi grafici&#10;&#10;Descrizione generata automaticamente">
            <a:extLst>
              <a:ext uri="{FF2B5EF4-FFF2-40B4-BE49-F238E27FC236}">
                <a16:creationId xmlns:a16="http://schemas.microsoft.com/office/drawing/2014/main" id="{25A91DB5-2132-CDBC-4DEC-2BD649154AC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22" t="3819" r="19840" b="14710"/>
          <a:stretch/>
        </p:blipFill>
        <p:spPr bwMode="auto">
          <a:xfrm>
            <a:off x="3075658" y="1500187"/>
            <a:ext cx="6086475" cy="38576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343FE843-DA09-F6B7-E080-37A5AAFEAD52}"/>
              </a:ext>
            </a:extLst>
          </p:cNvPr>
          <p:cNvCxnSpPr/>
          <p:nvPr/>
        </p:nvCxnSpPr>
        <p:spPr>
          <a:xfrm>
            <a:off x="4676775" y="5181600"/>
            <a:ext cx="666750" cy="1066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2D2CF30-8C76-A101-EE27-FBA0D6AA645E}"/>
              </a:ext>
            </a:extLst>
          </p:cNvPr>
          <p:cNvSpPr txBox="1"/>
          <p:nvPr/>
        </p:nvSpPr>
        <p:spPr>
          <a:xfrm>
            <a:off x="5343525" y="6170104"/>
            <a:ext cx="341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γ'</a:t>
            </a:r>
            <a:endParaRPr lang="it-IT" dirty="0"/>
          </a:p>
        </p:txBody>
      </p: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5B4352FB-2BE2-4EA9-2E9E-07D4A8B68726}"/>
              </a:ext>
            </a:extLst>
          </p:cNvPr>
          <p:cNvCxnSpPr>
            <a:cxnSpLocks/>
          </p:cNvCxnSpPr>
          <p:nvPr/>
        </p:nvCxnSpPr>
        <p:spPr>
          <a:xfrm flipH="1">
            <a:off x="1431636" y="3796145"/>
            <a:ext cx="1995055" cy="295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2506B613-7048-7EB7-BEC8-5767D94C1261}"/>
              </a:ext>
            </a:extLst>
          </p:cNvPr>
          <p:cNvSpPr txBox="1"/>
          <p:nvPr/>
        </p:nvSpPr>
        <p:spPr>
          <a:xfrm>
            <a:off x="1154545" y="3932012"/>
            <a:ext cx="2770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γ </a:t>
            </a:r>
            <a:endParaRPr lang="it-IT" dirty="0"/>
          </a:p>
        </p:txBody>
      </p:sp>
      <p:pic>
        <p:nvPicPr>
          <p:cNvPr id="22" name="Immagine 21" descr="Immagine che contiene diagramma, cerchio, design&#10;&#10;Descrizione generata automaticamente">
            <a:extLst>
              <a:ext uri="{FF2B5EF4-FFF2-40B4-BE49-F238E27FC236}">
                <a16:creationId xmlns:a16="http://schemas.microsoft.com/office/drawing/2014/main" id="{12B0BA42-020F-7FC4-2CA1-C4D2109428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640" y="4227576"/>
            <a:ext cx="2016652" cy="904703"/>
          </a:xfrm>
          <a:prstGeom prst="rect">
            <a:avLst/>
          </a:prstGeom>
        </p:spPr>
      </p:pic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48BB6BE1-4E0C-F70C-814B-A1337AD624D3}"/>
              </a:ext>
            </a:extLst>
          </p:cNvPr>
          <p:cNvSpPr txBox="1"/>
          <p:nvPr/>
        </p:nvSpPr>
        <p:spPr>
          <a:xfrm>
            <a:off x="427640" y="5132279"/>
            <a:ext cx="188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FCC </a:t>
            </a:r>
            <a:r>
              <a:rPr lang="it-IT" dirty="0" err="1"/>
              <a:t>structure</a:t>
            </a:r>
            <a:endParaRPr lang="it-IT" dirty="0"/>
          </a:p>
        </p:txBody>
      </p:sp>
      <p:pic>
        <p:nvPicPr>
          <p:cNvPr id="25" name="Immagine 24" descr="Immagine che contiene cerchio, Policromia, linea, Simmetria&#10;&#10;Descrizione generata automaticamente">
            <a:extLst>
              <a:ext uri="{FF2B5EF4-FFF2-40B4-BE49-F238E27FC236}">
                <a16:creationId xmlns:a16="http://schemas.microsoft.com/office/drawing/2014/main" id="{06610823-B46C-A9E6-0790-C691AC7F67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8121" y="5892807"/>
            <a:ext cx="1016472" cy="923925"/>
          </a:xfrm>
          <a:prstGeom prst="rect">
            <a:avLst/>
          </a:prstGeom>
        </p:spPr>
      </p:pic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976CDC6B-6AA3-B584-768F-AF14BE4145D6}"/>
              </a:ext>
            </a:extLst>
          </p:cNvPr>
          <p:cNvSpPr txBox="1"/>
          <p:nvPr/>
        </p:nvSpPr>
        <p:spPr>
          <a:xfrm>
            <a:off x="6944642" y="6170103"/>
            <a:ext cx="22174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FCC-L1_2 </a:t>
            </a:r>
            <a:r>
              <a:rPr lang="it-IT" dirty="0" err="1"/>
              <a:t>structure</a:t>
            </a:r>
            <a:r>
              <a:rPr lang="it-IT" dirty="0"/>
              <a:t> (</a:t>
            </a:r>
            <a:r>
              <a:rPr lang="it-IT" dirty="0" err="1"/>
              <a:t>ordered</a:t>
            </a:r>
            <a:r>
              <a:rPr lang="it-IT" dirty="0"/>
              <a:t>)</a:t>
            </a: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9FDF03A5-3D2D-FC00-B22A-F99950E8A085}"/>
              </a:ext>
            </a:extLst>
          </p:cNvPr>
          <p:cNvSpPr txBox="1"/>
          <p:nvPr/>
        </p:nvSpPr>
        <p:spPr>
          <a:xfrm>
            <a:off x="10021455" y="3121891"/>
            <a:ext cx="1745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65%-70% in </a:t>
            </a:r>
            <a:r>
              <a:rPr lang="en-GB" sz="1800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γ'</a:t>
            </a:r>
            <a:r>
              <a:rPr lang="it-IT" b="1" dirty="0"/>
              <a:t> </a:t>
            </a:r>
          </a:p>
        </p:txBody>
      </p:sp>
      <p:cxnSp>
        <p:nvCxnSpPr>
          <p:cNvPr id="29" name="Connettore 2 28">
            <a:extLst>
              <a:ext uri="{FF2B5EF4-FFF2-40B4-BE49-F238E27FC236}">
                <a16:creationId xmlns:a16="http://schemas.microsoft.com/office/drawing/2014/main" id="{45B4B00A-F429-1347-3DF8-86CF04FBB5E4}"/>
              </a:ext>
            </a:extLst>
          </p:cNvPr>
          <p:cNvCxnSpPr/>
          <p:nvPr/>
        </p:nvCxnSpPr>
        <p:spPr>
          <a:xfrm>
            <a:off x="10677236" y="3428999"/>
            <a:ext cx="0" cy="514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D5EAF1D5-D4C7-4354-5F6C-03E17A1EECE0}"/>
              </a:ext>
            </a:extLst>
          </p:cNvPr>
          <p:cNvSpPr txBox="1"/>
          <p:nvPr/>
        </p:nvSpPr>
        <p:spPr>
          <a:xfrm>
            <a:off x="10127282" y="3978178"/>
            <a:ext cx="18430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If</a:t>
            </a:r>
            <a:r>
              <a:rPr lang="it-IT" dirty="0"/>
              <a:t> more </a:t>
            </a:r>
            <a:r>
              <a:rPr lang="it-IT" dirty="0" err="1"/>
              <a:t>than</a:t>
            </a:r>
            <a:r>
              <a:rPr lang="it-IT" dirty="0"/>
              <a:t> </a:t>
            </a:r>
            <a:r>
              <a:rPr lang="it-IT" dirty="0" err="1"/>
              <a:t>this</a:t>
            </a:r>
            <a:r>
              <a:rPr lang="it-IT" dirty="0"/>
              <a:t>, </a:t>
            </a:r>
            <a:r>
              <a:rPr lang="it-IT" dirty="0" err="1"/>
              <a:t>degradation</a:t>
            </a:r>
            <a:r>
              <a:rPr lang="it-IT" dirty="0"/>
              <a:t> of </a:t>
            </a:r>
            <a:r>
              <a:rPr lang="it-IT" dirty="0" err="1"/>
              <a:t>cuboids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high temperature!!</a:t>
            </a: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6A80CCC7-5571-8BC3-309D-7D028FE64593}"/>
              </a:ext>
            </a:extLst>
          </p:cNvPr>
          <p:cNvSpPr txBox="1"/>
          <p:nvPr/>
        </p:nvSpPr>
        <p:spPr>
          <a:xfrm>
            <a:off x="250289" y="2011014"/>
            <a:ext cx="236269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Single Crystal </a:t>
            </a:r>
            <a:r>
              <a:rPr lang="it-IT" dirty="0" err="1"/>
              <a:t>supealloys</a:t>
            </a:r>
            <a:r>
              <a:rPr lang="it-IT" dirty="0"/>
              <a:t>: a key </a:t>
            </a:r>
            <a:r>
              <a:rPr lang="it-IT" dirty="0" err="1"/>
              <a:t>factor</a:t>
            </a:r>
            <a:r>
              <a:rPr lang="it-IT" dirty="0"/>
              <a:t> of the </a:t>
            </a:r>
            <a:r>
              <a:rPr lang="it-IT" dirty="0" err="1"/>
              <a:t>creep</a:t>
            </a:r>
            <a:r>
              <a:rPr lang="it-IT" dirty="0"/>
              <a:t> </a:t>
            </a:r>
            <a:r>
              <a:rPr lang="it-IT" dirty="0" err="1"/>
              <a:t>strength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92979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D40F56B5-5E49-5E3C-9C56-BCBE0C9597E9}"/>
              </a:ext>
            </a:extLst>
          </p:cNvPr>
          <p:cNvSpPr txBox="1"/>
          <p:nvPr/>
        </p:nvSpPr>
        <p:spPr>
          <a:xfrm>
            <a:off x="1222042" y="0"/>
            <a:ext cx="1039224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36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Lattice </a:t>
            </a:r>
            <a:r>
              <a:rPr lang="it-IT" sz="36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misfit</a:t>
            </a:r>
            <a:r>
              <a:rPr lang="it-IT" sz="36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 </a:t>
            </a:r>
          </a:p>
          <a:p>
            <a:pPr algn="ctr"/>
            <a:r>
              <a:rPr lang="it-IT" sz="36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</a:t>
            </a:r>
            <a:r>
              <a:rPr lang="it-IT" sz="36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parameter</a:t>
            </a:r>
            <a:r>
              <a:rPr lang="it-IT" sz="36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to </a:t>
            </a:r>
            <a:r>
              <a:rPr lang="it-IT" sz="36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manage</a:t>
            </a:r>
            <a:r>
              <a:rPr lang="it-IT" sz="36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the γ/γ' </a:t>
            </a:r>
            <a:r>
              <a:rPr lang="it-IT" sz="36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interfacial</a:t>
            </a:r>
            <a:r>
              <a:rPr lang="it-IT" sz="36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it-IT" sz="36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coherency</a:t>
            </a:r>
            <a:endParaRPr lang="it-IT" sz="36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2644A730-4139-FA9C-75E5-481A5B9250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098" y="1510641"/>
            <a:ext cx="2655134" cy="1318284"/>
          </a:xfrm>
          <a:prstGeom prst="rect">
            <a:avLst/>
          </a:prstGeom>
        </p:spPr>
      </p:pic>
      <p:pic>
        <p:nvPicPr>
          <p:cNvPr id="6" name="Immagine 5" descr="Immagine che contiene diagramma, linea, bianco e nero&#10;&#10;Descrizione generata automaticamente">
            <a:extLst>
              <a:ext uri="{FF2B5EF4-FFF2-40B4-BE49-F238E27FC236}">
                <a16:creationId xmlns:a16="http://schemas.microsoft.com/office/drawing/2014/main" id="{567A067E-5E79-BE0E-9135-20FB8798BB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47" y="1368054"/>
            <a:ext cx="6433035" cy="5220415"/>
          </a:xfrm>
          <a:prstGeom prst="rect">
            <a:avLst/>
          </a:prstGeom>
        </p:spPr>
      </p:pic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5D557633-5AF1-B105-05BD-2892E45EA46A}"/>
              </a:ext>
            </a:extLst>
          </p:cNvPr>
          <p:cNvCxnSpPr/>
          <p:nvPr/>
        </p:nvCxnSpPr>
        <p:spPr>
          <a:xfrm>
            <a:off x="9634682" y="1089891"/>
            <a:ext cx="663863" cy="8774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5E49333-8AEA-D361-463A-2FD331E24B2F}"/>
              </a:ext>
            </a:extLst>
          </p:cNvPr>
          <p:cNvSpPr txBox="1"/>
          <p:nvPr/>
        </p:nvSpPr>
        <p:spPr>
          <a:xfrm>
            <a:off x="9531927" y="2087418"/>
            <a:ext cx="2447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Closely</a:t>
            </a:r>
            <a:r>
              <a:rPr lang="it-IT" dirty="0"/>
              <a:t> </a:t>
            </a:r>
            <a:r>
              <a:rPr lang="it-IT" dirty="0" err="1"/>
              <a:t>affect</a:t>
            </a:r>
            <a:r>
              <a:rPr lang="it-IT" dirty="0"/>
              <a:t> </a:t>
            </a:r>
            <a:r>
              <a:rPr lang="it-IT" dirty="0" err="1"/>
              <a:t>creep</a:t>
            </a:r>
            <a:r>
              <a:rPr lang="it-IT" dirty="0"/>
              <a:t> </a:t>
            </a:r>
            <a:r>
              <a:rPr lang="it-IT" dirty="0" err="1"/>
              <a:t>properties</a:t>
            </a:r>
            <a:r>
              <a:rPr lang="it-IT" dirty="0"/>
              <a:t>!!</a:t>
            </a:r>
          </a:p>
        </p:txBody>
      </p:sp>
    </p:spTree>
    <p:extLst>
      <p:ext uri="{BB962C8B-B14F-4D97-AF65-F5344CB8AC3E}">
        <p14:creationId xmlns:p14="http://schemas.microsoft.com/office/powerpoint/2010/main" val="3867526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1D645B48-9F70-5D3F-653E-F4C454044D02}"/>
              </a:ext>
            </a:extLst>
          </p:cNvPr>
          <p:cNvSpPr txBox="1"/>
          <p:nvPr/>
        </p:nvSpPr>
        <p:spPr>
          <a:xfrm>
            <a:off x="1410561" y="0"/>
            <a:ext cx="932872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3600" dirty="0" err="1"/>
              <a:t>Dislocation</a:t>
            </a:r>
            <a:r>
              <a:rPr lang="it-IT" sz="3600" dirty="0"/>
              <a:t> </a:t>
            </a:r>
            <a:r>
              <a:rPr lang="it-IT" sz="3600" dirty="0" err="1"/>
              <a:t>motion</a:t>
            </a:r>
            <a:r>
              <a:rPr lang="it-IT" sz="3600" dirty="0"/>
              <a:t>: a way to </a:t>
            </a:r>
            <a:r>
              <a:rPr lang="it-IT" sz="3600" dirty="0" err="1"/>
              <a:t>understand</a:t>
            </a:r>
            <a:r>
              <a:rPr lang="it-IT" sz="3600" dirty="0"/>
              <a:t> </a:t>
            </a:r>
            <a:r>
              <a:rPr lang="it-IT" sz="3600" dirty="0" err="1"/>
              <a:t>creep</a:t>
            </a:r>
            <a:r>
              <a:rPr lang="it-IT" sz="3600" dirty="0"/>
              <a:t> </a:t>
            </a:r>
            <a:r>
              <a:rPr lang="it-IT" sz="3600" dirty="0" err="1"/>
              <a:t>strength</a:t>
            </a:r>
            <a:r>
              <a:rPr lang="it-IT" sz="3600" dirty="0"/>
              <a:t> of Ni-</a:t>
            </a:r>
            <a:r>
              <a:rPr lang="it-IT" sz="3600" dirty="0" err="1"/>
              <a:t>based</a:t>
            </a:r>
            <a:r>
              <a:rPr lang="it-IT" sz="3600" dirty="0"/>
              <a:t> </a:t>
            </a:r>
            <a:r>
              <a:rPr lang="it-IT" sz="3600" dirty="0" err="1"/>
              <a:t>superalloy</a:t>
            </a:r>
            <a:endParaRPr lang="it-IT" sz="3600" dirty="0"/>
          </a:p>
        </p:txBody>
      </p:sp>
      <p:pic>
        <p:nvPicPr>
          <p:cNvPr id="3" name="Immagine 2" descr="Immagine che contiene diagramma, schizzo, Piano, Disegno tecnico&#10;&#10;Descrizione generata automaticamente">
            <a:extLst>
              <a:ext uri="{FF2B5EF4-FFF2-40B4-BE49-F238E27FC236}">
                <a16:creationId xmlns:a16="http://schemas.microsoft.com/office/drawing/2014/main" id="{9D0E6A30-D4ED-08D6-CE44-19396F845D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810" y="1489665"/>
            <a:ext cx="3219739" cy="3008270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BDA1A031-8FAB-F4E2-AA60-F973030F930F}"/>
              </a:ext>
            </a:extLst>
          </p:cNvPr>
          <p:cNvSpPr txBox="1"/>
          <p:nvPr/>
        </p:nvSpPr>
        <p:spPr>
          <a:xfrm>
            <a:off x="378690" y="4452971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Schematic illustrations of dislocation movements in the γ channels</a:t>
            </a:r>
            <a:endParaRPr lang="it-IT" sz="1200" dirty="0"/>
          </a:p>
        </p:txBody>
      </p:sp>
      <p:pic>
        <p:nvPicPr>
          <p:cNvPr id="6" name="Immagine 5" descr="Immagine che contiene schermata, bianco e nero&#10;&#10;Descrizione generata automaticamente">
            <a:extLst>
              <a:ext uri="{FF2B5EF4-FFF2-40B4-BE49-F238E27FC236}">
                <a16:creationId xmlns:a16="http://schemas.microsoft.com/office/drawing/2014/main" id="{EC3A85CF-E64C-95D7-AF1F-6051E344BA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1390" y="2075115"/>
            <a:ext cx="6113254" cy="4070350"/>
          </a:xfrm>
          <a:prstGeom prst="rect">
            <a:avLst/>
          </a:prstGeom>
        </p:spPr>
      </p:pic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7548A851-31D8-B38A-02FA-EA8B70E5D930}"/>
              </a:ext>
            </a:extLst>
          </p:cNvPr>
          <p:cNvCxnSpPr/>
          <p:nvPr/>
        </p:nvCxnSpPr>
        <p:spPr>
          <a:xfrm>
            <a:off x="2078182" y="4729970"/>
            <a:ext cx="0" cy="811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27E0DCB0-F981-9405-1CCA-E0C6ECF045E1}"/>
              </a:ext>
            </a:extLst>
          </p:cNvPr>
          <p:cNvSpPr txBox="1"/>
          <p:nvPr/>
        </p:nvSpPr>
        <p:spPr>
          <a:xfrm>
            <a:off x="683491" y="5541818"/>
            <a:ext cx="29371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Diffusion</a:t>
            </a:r>
            <a:r>
              <a:rPr lang="it-IT" dirty="0"/>
              <a:t> of </a:t>
            </a:r>
            <a:r>
              <a:rPr lang="it-IT" dirty="0" err="1"/>
              <a:t>atoms</a:t>
            </a:r>
            <a:r>
              <a:rPr lang="it-IT" dirty="0"/>
              <a:t> and vacancies!!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56D5704-18A4-66D6-25F8-4D4CF45530AD}"/>
              </a:ext>
            </a:extLst>
          </p:cNvPr>
          <p:cNvSpPr txBox="1"/>
          <p:nvPr/>
        </p:nvSpPr>
        <p:spPr>
          <a:xfrm>
            <a:off x="6827689" y="1705783"/>
            <a:ext cx="36206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APB = ANTI-PHASE BOUNDARIES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02CBE44C-CDD0-71C2-3867-4F9CBEBA5551}"/>
              </a:ext>
            </a:extLst>
          </p:cNvPr>
          <p:cNvSpPr txBox="1"/>
          <p:nvPr/>
        </p:nvSpPr>
        <p:spPr>
          <a:xfrm>
            <a:off x="6536743" y="6188149"/>
            <a:ext cx="42025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Illustrations of dislocation motion in </a:t>
            </a:r>
            <a:r>
              <a:rPr lang="en-GB" sz="12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γ ‘ </a:t>
            </a:r>
            <a:r>
              <a:rPr lang="en-US" sz="12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phase with forming APBs. </a:t>
            </a:r>
            <a:endParaRPr lang="it-IT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02115CD3-A069-EF17-39CB-6F8BE264E953}"/>
              </a:ext>
            </a:extLst>
          </p:cNvPr>
          <p:cNvCxnSpPr>
            <a:cxnSpLocks/>
          </p:cNvCxnSpPr>
          <p:nvPr/>
        </p:nvCxnSpPr>
        <p:spPr>
          <a:xfrm flipV="1">
            <a:off x="3731491" y="3376017"/>
            <a:ext cx="480291" cy="3092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8A39BE37-7246-B59F-815C-6E43E6A4966D}"/>
              </a:ext>
            </a:extLst>
          </p:cNvPr>
          <p:cNvSpPr txBox="1"/>
          <p:nvPr/>
        </p:nvSpPr>
        <p:spPr>
          <a:xfrm>
            <a:off x="4037604" y="2545020"/>
            <a:ext cx="16533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b="1" dirty="0" err="1"/>
              <a:t>This</a:t>
            </a:r>
            <a:r>
              <a:rPr lang="it-IT" sz="1200" b="1" dirty="0"/>
              <a:t> </a:t>
            </a:r>
            <a:r>
              <a:rPr lang="it-IT" sz="1200" b="1" dirty="0" err="1"/>
              <a:t>is</a:t>
            </a:r>
            <a:r>
              <a:rPr lang="it-IT" sz="1200" b="1" dirty="0"/>
              <a:t> the </a:t>
            </a:r>
            <a:r>
              <a:rPr lang="it-IT" sz="1200" b="1" dirty="0" err="1"/>
              <a:t>reason</a:t>
            </a:r>
            <a:r>
              <a:rPr lang="it-IT" sz="1200" b="1" dirty="0"/>
              <a:t> </a:t>
            </a:r>
            <a:r>
              <a:rPr lang="it-IT" sz="1200" b="1" dirty="0" err="1"/>
              <a:t>why</a:t>
            </a:r>
            <a:r>
              <a:rPr lang="it-IT" sz="1200" b="1" dirty="0"/>
              <a:t> </a:t>
            </a:r>
            <a:r>
              <a:rPr lang="it-IT" sz="1200" b="1" dirty="0" err="1"/>
              <a:t>interfacial</a:t>
            </a:r>
            <a:r>
              <a:rPr lang="it-IT" sz="1200" b="1" dirty="0"/>
              <a:t> </a:t>
            </a:r>
            <a:r>
              <a:rPr lang="it-IT" sz="1200" b="1" dirty="0" err="1"/>
              <a:t>coherency</a:t>
            </a:r>
            <a:r>
              <a:rPr lang="it-IT" sz="1200" b="1" dirty="0"/>
              <a:t> </a:t>
            </a:r>
            <a:r>
              <a:rPr lang="it-IT" sz="1200" b="1" dirty="0" err="1"/>
              <a:t>enanches</a:t>
            </a:r>
            <a:r>
              <a:rPr lang="it-IT" sz="1200" b="1" dirty="0"/>
              <a:t> </a:t>
            </a:r>
            <a:r>
              <a:rPr lang="it-IT" sz="1200" b="1" dirty="0" err="1"/>
              <a:t>creep</a:t>
            </a:r>
            <a:r>
              <a:rPr lang="it-IT" sz="1200" b="1" dirty="0"/>
              <a:t> </a:t>
            </a:r>
            <a:r>
              <a:rPr lang="it-IT" sz="1200" b="1" dirty="0" err="1"/>
              <a:t>strength</a:t>
            </a:r>
            <a:r>
              <a:rPr lang="it-IT" sz="1200" b="1" dirty="0"/>
              <a:t>!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8" name="Input penna 27">
                <a:extLst>
                  <a:ext uri="{FF2B5EF4-FFF2-40B4-BE49-F238E27FC236}">
                    <a16:creationId xmlns:a16="http://schemas.microsoft.com/office/drawing/2014/main" id="{B1FFD741-A679-A47E-D318-2037776D0EC8}"/>
                  </a:ext>
                </a:extLst>
              </p14:cNvPr>
              <p14:cNvContentPartPr/>
              <p14:nvPr/>
            </p14:nvContentPartPr>
            <p14:xfrm>
              <a:off x="9753567" y="2382444"/>
              <a:ext cx="1752120" cy="917640"/>
            </p14:xfrm>
          </p:contentPart>
        </mc:Choice>
        <mc:Fallback xmlns="">
          <p:pic>
            <p:nvPicPr>
              <p:cNvPr id="28" name="Input penna 27">
                <a:extLst>
                  <a:ext uri="{FF2B5EF4-FFF2-40B4-BE49-F238E27FC236}">
                    <a16:creationId xmlns:a16="http://schemas.microsoft.com/office/drawing/2014/main" id="{B1FFD741-A679-A47E-D318-2037776D0EC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699567" y="2274804"/>
                <a:ext cx="1859760" cy="1133280"/>
              </a:xfrm>
              <a:prstGeom prst="rect">
                <a:avLst/>
              </a:prstGeom>
            </p:spPr>
          </p:pic>
        </mc:Fallback>
      </mc:AlternateContent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87FC14DC-821C-3111-D33A-E2BAC5A3A2C1}"/>
              </a:ext>
            </a:extLst>
          </p:cNvPr>
          <p:cNvCxnSpPr>
            <a:cxnSpLocks/>
          </p:cNvCxnSpPr>
          <p:nvPr/>
        </p:nvCxnSpPr>
        <p:spPr>
          <a:xfrm flipV="1">
            <a:off x="10448344" y="1543532"/>
            <a:ext cx="290944" cy="11811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ADA92D95-E6EB-701D-363F-89446241F601}"/>
              </a:ext>
            </a:extLst>
          </p:cNvPr>
          <p:cNvSpPr txBox="1"/>
          <p:nvPr/>
        </p:nvSpPr>
        <p:spPr>
          <a:xfrm>
            <a:off x="10049164" y="712535"/>
            <a:ext cx="20781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b="1" dirty="0" err="1"/>
              <a:t>Forming</a:t>
            </a:r>
            <a:r>
              <a:rPr lang="it-IT" sz="1200" b="1" dirty="0"/>
              <a:t> an APB </a:t>
            </a:r>
            <a:r>
              <a:rPr lang="it-IT" sz="1200" b="1" dirty="0" err="1"/>
              <a:t>within</a:t>
            </a:r>
            <a:r>
              <a:rPr lang="it-IT" sz="1200" b="1" dirty="0"/>
              <a:t> an </a:t>
            </a:r>
            <a:r>
              <a:rPr lang="it-IT" sz="1200" b="1" dirty="0" err="1"/>
              <a:t>excisting</a:t>
            </a:r>
            <a:r>
              <a:rPr lang="it-IT" sz="1200" b="1" dirty="0"/>
              <a:t> </a:t>
            </a:r>
            <a:r>
              <a:rPr lang="en-GB" sz="12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γ ‘ crystal is the only way dislocations have, to pass through this phase.</a:t>
            </a:r>
            <a:endParaRPr lang="it-IT" sz="1200" b="1" dirty="0"/>
          </a:p>
        </p:txBody>
      </p:sp>
    </p:spTree>
    <p:extLst>
      <p:ext uri="{BB962C8B-B14F-4D97-AF65-F5344CB8AC3E}">
        <p14:creationId xmlns:p14="http://schemas.microsoft.com/office/powerpoint/2010/main" val="2473628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9387D9A1-1288-7EC8-989D-DCD1ADF7DA9A}"/>
              </a:ext>
            </a:extLst>
          </p:cNvPr>
          <p:cNvSpPr txBox="1"/>
          <p:nvPr/>
        </p:nvSpPr>
        <p:spPr>
          <a:xfrm>
            <a:off x="0" y="0"/>
            <a:ext cx="1219199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/>
              <a:t>In light of the key factors discussed, which specific alloying elements are crucial for achieving the exceptional strength exhibited by this superalloy?</a:t>
            </a:r>
            <a:endParaRPr lang="it-IT" sz="3000" dirty="0"/>
          </a:p>
        </p:txBody>
      </p:sp>
      <p:pic>
        <p:nvPicPr>
          <p:cNvPr id="5" name="Immagine 4" descr="Immagine che contiene testo, linea, diagramma, Diagramma&#10;&#10;Descrizione generata automaticamente">
            <a:extLst>
              <a:ext uri="{FF2B5EF4-FFF2-40B4-BE49-F238E27FC236}">
                <a16:creationId xmlns:a16="http://schemas.microsoft.com/office/drawing/2014/main" id="{4DCFC7EC-A934-B4EA-2C30-E22ADA8CCB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315" y="1811655"/>
            <a:ext cx="6196344" cy="2484120"/>
          </a:xfrm>
          <a:prstGeom prst="rect">
            <a:avLst/>
          </a:prstGeom>
        </p:spPr>
      </p:pic>
      <p:pic>
        <p:nvPicPr>
          <p:cNvPr id="6" name="Immagine 5" descr="Immagine che contiene testo, linea, Parallelo, Carattere&#10;&#10;Descrizione generata automaticamente">
            <a:extLst>
              <a:ext uri="{FF2B5EF4-FFF2-40B4-BE49-F238E27FC236}">
                <a16:creationId xmlns:a16="http://schemas.microsoft.com/office/drawing/2014/main" id="{00753AEC-63E9-1B91-D563-CC6186D94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2868" y="1811655"/>
            <a:ext cx="2918460" cy="2339340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0CB23CD8-E332-80B1-21A8-EE9F7918AE09}"/>
              </a:ext>
            </a:extLst>
          </p:cNvPr>
          <p:cNvSpPr txBox="1"/>
          <p:nvPr/>
        </p:nvSpPr>
        <p:spPr>
          <a:xfrm>
            <a:off x="906781" y="4295775"/>
            <a:ext cx="6191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Effects of Ti and Ta on APB energy of Ni-SXs. The effects of Ti/Al ratios (a) and Ta/Al ratios (b) on APB energy in Ni-Al-X systems</a:t>
            </a:r>
            <a:endParaRPr lang="it-IT" sz="1200" dirty="0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BE9A09B-FCBA-B446-C1BF-917CE0DB6166}"/>
              </a:ext>
            </a:extLst>
          </p:cNvPr>
          <p:cNvSpPr txBox="1"/>
          <p:nvPr/>
        </p:nvSpPr>
        <p:spPr>
          <a:xfrm>
            <a:off x="8074891" y="4295775"/>
            <a:ext cx="39508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Diffusion coefficients of some strengthening elements in Ni</a:t>
            </a:r>
            <a:endParaRPr lang="it-IT" sz="1200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83E1E9A6-4427-C19B-433A-6730CE888FAE}"/>
              </a:ext>
            </a:extLst>
          </p:cNvPr>
          <p:cNvSpPr txBox="1"/>
          <p:nvPr/>
        </p:nvSpPr>
        <p:spPr>
          <a:xfrm>
            <a:off x="461818" y="4941455"/>
            <a:ext cx="294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r_Ti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r_Ta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&gt;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r_Co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r_Cr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etc..</a:t>
            </a:r>
          </a:p>
        </p:txBody>
      </p:sp>
      <p:sp>
        <p:nvSpPr>
          <p:cNvPr id="12" name="Freccia a destra 11">
            <a:extLst>
              <a:ext uri="{FF2B5EF4-FFF2-40B4-BE49-F238E27FC236}">
                <a16:creationId xmlns:a16="http://schemas.microsoft.com/office/drawing/2014/main" id="{305D7E2D-6FE9-257A-3379-8918B75AD795}"/>
              </a:ext>
            </a:extLst>
          </p:cNvPr>
          <p:cNvSpPr/>
          <p:nvPr/>
        </p:nvSpPr>
        <p:spPr>
          <a:xfrm>
            <a:off x="3315855" y="5108172"/>
            <a:ext cx="683490" cy="4571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EE4798F-4D88-CDEA-734F-37A531859011}"/>
              </a:ext>
            </a:extLst>
          </p:cNvPr>
          <p:cNvSpPr txBox="1"/>
          <p:nvPr/>
        </p:nvSpPr>
        <p:spPr>
          <a:xfrm>
            <a:off x="4156364" y="4941455"/>
            <a:ext cx="19396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a_</a:t>
            </a:r>
            <a:r>
              <a:rPr lang="en-GB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γ’ &gt; </a:t>
            </a:r>
            <a:r>
              <a:rPr lang="en-GB" sz="1800" kern="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a_γ</a:t>
            </a:r>
            <a:r>
              <a:rPr lang="en-GB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kern="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14" name="Freccia a destra 13">
            <a:extLst>
              <a:ext uri="{FF2B5EF4-FFF2-40B4-BE49-F238E27FC236}">
                <a16:creationId xmlns:a16="http://schemas.microsoft.com/office/drawing/2014/main" id="{1434FE85-5477-D31E-3B4E-8433108B13A7}"/>
              </a:ext>
            </a:extLst>
          </p:cNvPr>
          <p:cNvSpPr/>
          <p:nvPr/>
        </p:nvSpPr>
        <p:spPr>
          <a:xfrm>
            <a:off x="5412509" y="5089516"/>
            <a:ext cx="683490" cy="4571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6B48A912-64BF-0ED4-9AE2-4BB5E8F8CD0D}"/>
                  </a:ext>
                </a:extLst>
              </p:cNvPr>
              <p:cNvSpPr txBox="1"/>
              <p:nvPr/>
            </p:nvSpPr>
            <p:spPr>
              <a:xfrm>
                <a:off x="6262255" y="4941455"/>
                <a:ext cx="10898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180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δ</m:t>
                    </m:r>
                  </m:oMath>
                </a14:m>
                <a:r>
                  <a:rPr lang="it-IT" dirty="0"/>
                  <a:t>&gt;0</a:t>
                </a: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6B48A912-64BF-0ED4-9AE2-4BB5E8F8CD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2255" y="4941455"/>
                <a:ext cx="1089889" cy="369332"/>
              </a:xfrm>
              <a:prstGeom prst="rect">
                <a:avLst/>
              </a:prstGeom>
              <a:blipFill>
                <a:blip r:embed="rId4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0F50AAD1-7F42-1885-3522-A386C07E7FC9}"/>
              </a:ext>
            </a:extLst>
          </p:cNvPr>
          <p:cNvSpPr txBox="1"/>
          <p:nvPr/>
        </p:nvSpPr>
        <p:spPr>
          <a:xfrm>
            <a:off x="461818" y="5467927"/>
            <a:ext cx="4368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Why</a:t>
            </a:r>
            <a:r>
              <a:rPr lang="it-IT" dirty="0"/>
              <a:t> Al, Ti, Ta in </a:t>
            </a:r>
            <a:r>
              <a:rPr lang="it-IT" dirty="0" err="1"/>
              <a:t>particular</a:t>
            </a:r>
            <a:r>
              <a:rPr lang="it-IT" dirty="0"/>
              <a:t>? </a:t>
            </a:r>
            <a:r>
              <a:rPr lang="it-IT" dirty="0" err="1"/>
              <a:t>Larger</a:t>
            </a:r>
            <a:r>
              <a:rPr lang="it-IT" dirty="0"/>
              <a:t> </a:t>
            </a:r>
            <a:r>
              <a:rPr lang="it-IT" dirty="0" err="1"/>
              <a:t>than</a:t>
            </a:r>
            <a:r>
              <a:rPr lang="it-IT" dirty="0"/>
              <a:t> Ni.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allows</a:t>
            </a:r>
            <a:r>
              <a:rPr lang="it-IT" dirty="0"/>
              <a:t> to have L1_2 </a:t>
            </a:r>
            <a:r>
              <a:rPr lang="it-IT" dirty="0" err="1"/>
              <a:t>structure</a:t>
            </a:r>
            <a:r>
              <a:rPr lang="it-IT" dirty="0"/>
              <a:t> (</a:t>
            </a:r>
            <a:r>
              <a:rPr lang="it-IT" dirty="0" err="1"/>
              <a:t>ordered</a:t>
            </a:r>
            <a:r>
              <a:rPr lang="it-IT" dirty="0"/>
              <a:t>) 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77EFE9AA-DDFF-5B9B-D88C-513F53BD28BA}"/>
              </a:ext>
            </a:extLst>
          </p:cNvPr>
          <p:cNvSpPr txBox="1"/>
          <p:nvPr/>
        </p:nvSpPr>
        <p:spPr>
          <a:xfrm>
            <a:off x="8687065" y="4784559"/>
            <a:ext cx="25700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γ</a:t>
            </a:r>
            <a:r>
              <a:rPr lang="it-IT" kern="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kern="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phase</a:t>
            </a:r>
            <a:r>
              <a:rPr lang="it-IT" kern="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kern="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lang="it-IT" kern="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it-IT" kern="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solid</a:t>
            </a:r>
            <a:r>
              <a:rPr lang="it-IT" kern="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kern="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solution</a:t>
            </a:r>
            <a:endParaRPr lang="it-IT" kern="0" dirty="0"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it-IT" kern="0" dirty="0"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kern="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High %Co </a:t>
            </a:r>
            <a:r>
              <a:rPr lang="it-IT" kern="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reduces</a:t>
            </a:r>
            <a:r>
              <a:rPr lang="it-IT" kern="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the energy of </a:t>
            </a:r>
            <a:r>
              <a:rPr lang="it-IT" kern="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dislocations</a:t>
            </a:r>
            <a:r>
              <a:rPr lang="it-IT" kern="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en-GB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γ phase</a:t>
            </a:r>
            <a:r>
              <a:rPr lang="it-IT" kern="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35549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78E2735F-DF5C-1478-EF6C-63FF9DF959ED}"/>
              </a:ext>
            </a:extLst>
          </p:cNvPr>
          <p:cNvSpPr txBox="1"/>
          <p:nvPr/>
        </p:nvSpPr>
        <p:spPr>
          <a:xfrm>
            <a:off x="1410561" y="0"/>
            <a:ext cx="932872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3600" dirty="0"/>
              <a:t>MGA1700: the </a:t>
            </a:r>
            <a:r>
              <a:rPr lang="it-IT" sz="3600" dirty="0" err="1"/>
              <a:t>result</a:t>
            </a:r>
            <a:r>
              <a:rPr lang="it-IT" sz="3600" dirty="0"/>
              <a:t> of joint </a:t>
            </a:r>
            <a:r>
              <a:rPr lang="it-IT" sz="3600" dirty="0" err="1"/>
              <a:t>research</a:t>
            </a:r>
            <a:r>
              <a:rPr lang="it-IT" sz="3600" dirty="0"/>
              <a:t> </a:t>
            </a:r>
            <a:r>
              <a:rPr lang="it-IT" sz="3600" dirty="0" err="1"/>
              <a:t>between</a:t>
            </a:r>
            <a:r>
              <a:rPr lang="it-IT" sz="3600" dirty="0"/>
              <a:t> NIMS and MHI 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7090DE20-0F0D-7E60-B24F-CEECE172D1A4}"/>
              </a:ext>
            </a:extLst>
          </p:cNvPr>
          <p:cNvSpPr txBox="1"/>
          <p:nvPr/>
        </p:nvSpPr>
        <p:spPr>
          <a:xfrm>
            <a:off x="-1" y="1200329"/>
            <a:ext cx="50339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NIMS = National Institute for Materials Science</a:t>
            </a:r>
            <a:endParaRPr lang="it-IT" b="1" dirty="0"/>
          </a:p>
        </p:txBody>
      </p:sp>
      <p:pic>
        <p:nvPicPr>
          <p:cNvPr id="4" name="Immagine 3" descr="Immagine che contiene testo, ricevuta, Carattere, linea&#10;&#10;Descrizione generata automaticamente">
            <a:extLst>
              <a:ext uri="{FF2B5EF4-FFF2-40B4-BE49-F238E27FC236}">
                <a16:creationId xmlns:a16="http://schemas.microsoft.com/office/drawing/2014/main" id="{737224BC-5E19-172A-EC9F-C1FAA4D2D1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8875" y="1530235"/>
            <a:ext cx="8612097" cy="3559110"/>
          </a:xfrm>
          <a:prstGeom prst="rect">
            <a:avLst/>
          </a:prstGeom>
        </p:spPr>
      </p:pic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630F37E4-C6AA-C0F9-5404-CD8C8B9D7DC2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1561483" y="2159980"/>
            <a:ext cx="763573" cy="7588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FBC0C0C-DC25-DCD6-6165-2DAE1AF09B3C}"/>
              </a:ext>
            </a:extLst>
          </p:cNvPr>
          <p:cNvSpPr txBox="1"/>
          <p:nvPr/>
        </p:nvSpPr>
        <p:spPr>
          <a:xfrm>
            <a:off x="0" y="1857078"/>
            <a:ext cx="15648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NIMS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alloy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design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program</a:t>
            </a:r>
            <a:endParaRPr lang="it-IT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Parentesi graffa aperta 8">
            <a:extLst>
              <a:ext uri="{FF2B5EF4-FFF2-40B4-BE49-F238E27FC236}">
                <a16:creationId xmlns:a16="http://schemas.microsoft.com/office/drawing/2014/main" id="{E447B375-933C-9201-E7D7-48DC6B4A747D}"/>
              </a:ext>
            </a:extLst>
          </p:cNvPr>
          <p:cNvSpPr/>
          <p:nvPr/>
        </p:nvSpPr>
        <p:spPr>
          <a:xfrm>
            <a:off x="2325056" y="2565333"/>
            <a:ext cx="226242" cy="70701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4" name="Immagine 13" descr="Immagine che contiene schermata, testo, modello, arte&#10;&#10;Descrizione generata automaticamente">
            <a:extLst>
              <a:ext uri="{FF2B5EF4-FFF2-40B4-BE49-F238E27FC236}">
                <a16:creationId xmlns:a16="http://schemas.microsoft.com/office/drawing/2014/main" id="{251514CC-866D-5F56-95FC-11F337798D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826" y="5252959"/>
            <a:ext cx="3932702" cy="1116816"/>
          </a:xfrm>
          <a:prstGeom prst="rect">
            <a:avLst/>
          </a:prstGeom>
        </p:spPr>
      </p:pic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EB05D37F-9492-59DE-D550-1D0C74A717E4}"/>
              </a:ext>
            </a:extLst>
          </p:cNvPr>
          <p:cNvSpPr txBox="1"/>
          <p:nvPr/>
        </p:nvSpPr>
        <p:spPr>
          <a:xfrm>
            <a:off x="865464" y="6371149"/>
            <a:ext cx="3371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 mm x 200 mm x 20 mm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specimens</a:t>
            </a:r>
            <a:endParaRPr lang="it-IT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8" name="Connettore a gomito 27">
            <a:extLst>
              <a:ext uri="{FF2B5EF4-FFF2-40B4-BE49-F238E27FC236}">
                <a16:creationId xmlns:a16="http://schemas.microsoft.com/office/drawing/2014/main" id="{CCC87713-2919-B540-160D-90D16AAB1995}"/>
              </a:ext>
            </a:extLst>
          </p:cNvPr>
          <p:cNvCxnSpPr>
            <a:cxnSpLocks/>
          </p:cNvCxnSpPr>
          <p:nvPr/>
        </p:nvCxnSpPr>
        <p:spPr>
          <a:xfrm rot="10800000">
            <a:off x="782426" y="2370876"/>
            <a:ext cx="1772239" cy="16637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3" name="Immagine 32" descr="Immagine che contiene testo, Diagramma, diagramma, linea&#10;&#10;Descrizione generata automaticamente">
            <a:extLst>
              <a:ext uri="{FF2B5EF4-FFF2-40B4-BE49-F238E27FC236}">
                <a16:creationId xmlns:a16="http://schemas.microsoft.com/office/drawing/2014/main" id="{ADD53F59-E90F-496A-05F2-5C406AD2D6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4525" y="4701254"/>
            <a:ext cx="4422896" cy="1668521"/>
          </a:xfrm>
          <a:prstGeom prst="rect">
            <a:avLst/>
          </a:prstGeom>
        </p:spPr>
      </p:pic>
      <p:cxnSp>
        <p:nvCxnSpPr>
          <p:cNvPr id="55" name="Connettore 2 54">
            <a:extLst>
              <a:ext uri="{FF2B5EF4-FFF2-40B4-BE49-F238E27FC236}">
                <a16:creationId xmlns:a16="http://schemas.microsoft.com/office/drawing/2014/main" id="{C5059F22-1EF1-919F-48AE-7C2435B3D45A}"/>
              </a:ext>
            </a:extLst>
          </p:cNvPr>
          <p:cNvCxnSpPr/>
          <p:nvPr/>
        </p:nvCxnSpPr>
        <p:spPr>
          <a:xfrm flipH="1">
            <a:off x="1236908" y="3582186"/>
            <a:ext cx="1201269" cy="16025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ttore a gomito 56">
            <a:extLst>
              <a:ext uri="{FF2B5EF4-FFF2-40B4-BE49-F238E27FC236}">
                <a16:creationId xmlns:a16="http://schemas.microsoft.com/office/drawing/2014/main" id="{F89FA33A-320B-DFFC-6AE8-3B4506695B0B}"/>
              </a:ext>
            </a:extLst>
          </p:cNvPr>
          <p:cNvCxnSpPr>
            <a:cxnSpLocks/>
          </p:cNvCxnSpPr>
          <p:nvPr/>
        </p:nvCxnSpPr>
        <p:spPr>
          <a:xfrm>
            <a:off x="5920033" y="4506012"/>
            <a:ext cx="3235940" cy="17638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CasellaDiTesto 59">
            <a:extLst>
              <a:ext uri="{FF2B5EF4-FFF2-40B4-BE49-F238E27FC236}">
                <a16:creationId xmlns:a16="http://schemas.microsoft.com/office/drawing/2014/main" id="{BBC9185C-D1D4-FF2D-D342-9554B4518593}"/>
              </a:ext>
            </a:extLst>
          </p:cNvPr>
          <p:cNvSpPr txBox="1"/>
          <p:nvPr/>
        </p:nvSpPr>
        <p:spPr>
          <a:xfrm>
            <a:off x="7276167" y="6367031"/>
            <a:ext cx="37596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testing on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different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composition</a:t>
            </a:r>
            <a:endParaRPr lang="it-IT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0250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6E32A45E-F225-5375-472F-D9BA51509800}"/>
              </a:ext>
            </a:extLst>
          </p:cNvPr>
          <p:cNvSpPr txBox="1"/>
          <p:nvPr/>
        </p:nvSpPr>
        <p:spPr>
          <a:xfrm>
            <a:off x="1431636" y="0"/>
            <a:ext cx="93287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dirty="0">
                <a:effectLst/>
                <a:ea typeface="Calibri" panose="020F0502020204030204" pitchFamily="34" charset="0"/>
              </a:rPr>
              <a:t>Typical casting defects in the SC superalloy</a:t>
            </a:r>
            <a:endParaRPr lang="it-IT" sz="3600" dirty="0"/>
          </a:p>
        </p:txBody>
      </p:sp>
      <p:pic>
        <p:nvPicPr>
          <p:cNvPr id="5" name="Immagine 4" descr="Immagine che contiene schermata, grigio&#10;&#10;Descrizione generata automaticamente">
            <a:extLst>
              <a:ext uri="{FF2B5EF4-FFF2-40B4-BE49-F238E27FC236}">
                <a16:creationId xmlns:a16="http://schemas.microsoft.com/office/drawing/2014/main" id="{1EBBA60F-4593-F0E6-CFB7-C70DA4A768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95" y="1775775"/>
            <a:ext cx="10769410" cy="3306450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FBA786F1-AADF-4E47-6CD7-401BB45D9AE9}"/>
              </a:ext>
            </a:extLst>
          </p:cNvPr>
          <p:cNvSpPr txBox="1"/>
          <p:nvPr/>
        </p:nvSpPr>
        <p:spPr>
          <a:xfrm>
            <a:off x="835842" y="5156462"/>
            <a:ext cx="10520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a) </a:t>
            </a:r>
            <a:r>
              <a:rPr lang="en-GB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freckle, </a:t>
            </a:r>
            <a:r>
              <a:rPr lang="en-GB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b) </a:t>
            </a:r>
            <a:r>
              <a:rPr lang="en-GB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stray grain, and </a:t>
            </a:r>
            <a:r>
              <a:rPr lang="en-GB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c) </a:t>
            </a:r>
            <a:r>
              <a:rPr lang="en-GB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re-crystallization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9492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 descr="Immagine che contiene testo, schermata, Carattere, navigazione&#10;&#10;Descrizione generata automaticamente">
            <a:extLst>
              <a:ext uri="{FF2B5EF4-FFF2-40B4-BE49-F238E27FC236}">
                <a16:creationId xmlns:a16="http://schemas.microsoft.com/office/drawing/2014/main" id="{7892F141-82CE-3167-4B37-13E0570A9F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3915" y="1298966"/>
            <a:ext cx="8204170" cy="4260067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99CCF2C8-7D55-ADB8-5318-0E240FC563E6}"/>
              </a:ext>
            </a:extLst>
          </p:cNvPr>
          <p:cNvSpPr txBox="1"/>
          <p:nvPr/>
        </p:nvSpPr>
        <p:spPr>
          <a:xfrm>
            <a:off x="1431636" y="0"/>
            <a:ext cx="93287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dirty="0">
                <a:ea typeface="Calibri" panose="020F0502020204030204" pitchFamily="34" charset="0"/>
              </a:rPr>
              <a:t>Freckle generation</a:t>
            </a:r>
            <a:endParaRPr lang="it-IT" sz="3600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D202D29-9123-22F0-D15D-550C195ADAC2}"/>
              </a:ext>
            </a:extLst>
          </p:cNvPr>
          <p:cNvSpPr txBox="1"/>
          <p:nvPr/>
        </p:nvSpPr>
        <p:spPr>
          <a:xfrm>
            <a:off x="2369735" y="5672281"/>
            <a:ext cx="74525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Basic mechanism and an example of prediction result of freckle generation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66360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46425735-F955-E3EF-2E96-53A0F67353EF}"/>
              </a:ext>
            </a:extLst>
          </p:cNvPr>
          <p:cNvSpPr txBox="1"/>
          <p:nvPr/>
        </p:nvSpPr>
        <p:spPr>
          <a:xfrm>
            <a:off x="1431636" y="0"/>
            <a:ext cx="93287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dirty="0">
                <a:ea typeface="Calibri" panose="020F0502020204030204" pitchFamily="34" charset="0"/>
              </a:rPr>
              <a:t>Casting process and stray grain</a:t>
            </a:r>
            <a:endParaRPr lang="it-IT" sz="3600" dirty="0"/>
          </a:p>
        </p:txBody>
      </p:sp>
      <p:pic>
        <p:nvPicPr>
          <p:cNvPr id="3" name="Immagine 2" descr="Immagine che contiene testo, diagramma, Carattere, ricevuta&#10;&#10;Descrizione generata automaticamente">
            <a:extLst>
              <a:ext uri="{FF2B5EF4-FFF2-40B4-BE49-F238E27FC236}">
                <a16:creationId xmlns:a16="http://schemas.microsoft.com/office/drawing/2014/main" id="{AE2FD33C-8195-F1E5-A2BE-DE2CF417EA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462" y="901722"/>
            <a:ext cx="3927514" cy="2527278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7132C7F1-95E1-F323-953F-A68232E03A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554" y="2153082"/>
            <a:ext cx="3493240" cy="3465294"/>
          </a:xfrm>
          <a:prstGeom prst="rect">
            <a:avLst/>
          </a:prstGeom>
        </p:spPr>
      </p:pic>
      <p:sp>
        <p:nvSpPr>
          <p:cNvPr id="5" name="Ovale 4">
            <a:extLst>
              <a:ext uri="{FF2B5EF4-FFF2-40B4-BE49-F238E27FC236}">
                <a16:creationId xmlns:a16="http://schemas.microsoft.com/office/drawing/2014/main" id="{2699E303-78D0-379E-0EC6-466ED9DF8148}"/>
              </a:ext>
            </a:extLst>
          </p:cNvPr>
          <p:cNvSpPr/>
          <p:nvPr/>
        </p:nvSpPr>
        <p:spPr>
          <a:xfrm>
            <a:off x="1866507" y="2828042"/>
            <a:ext cx="452487" cy="51847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D7CE3F8D-9B45-F758-2727-4361B24EC964}"/>
              </a:ext>
            </a:extLst>
          </p:cNvPr>
          <p:cNvSpPr/>
          <p:nvPr/>
        </p:nvSpPr>
        <p:spPr>
          <a:xfrm>
            <a:off x="4675695" y="1659118"/>
            <a:ext cx="4675695" cy="49584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F19CC94B-E5CE-5E74-A3A5-11D9935D1DC8}"/>
              </a:ext>
            </a:extLst>
          </p:cNvPr>
          <p:cNvCxnSpPr>
            <a:stCxn id="5" idx="5"/>
            <a:endCxn id="6" idx="2"/>
          </p:cNvCxnSpPr>
          <p:nvPr/>
        </p:nvCxnSpPr>
        <p:spPr>
          <a:xfrm>
            <a:off x="2252729" y="3270587"/>
            <a:ext cx="2422966" cy="8677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13ED1A3-673D-657D-2814-E958EFC98E4B}"/>
              </a:ext>
            </a:extLst>
          </p:cNvPr>
          <p:cNvSpPr txBox="1"/>
          <p:nvPr/>
        </p:nvSpPr>
        <p:spPr>
          <a:xfrm>
            <a:off x="4511976" y="1018665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The seed and helical selector section of a turbine blade casting macro etched to highlight the stray grains</a:t>
            </a:r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C3557A75-0F2E-37FA-75E5-086F972CD4FB}"/>
              </a:ext>
            </a:extLst>
          </p:cNvPr>
          <p:cNvSpPr txBox="1"/>
          <p:nvPr/>
        </p:nvSpPr>
        <p:spPr>
          <a:xfrm>
            <a:off x="9841583" y="2375555"/>
            <a:ext cx="20079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kern="0" dirty="0">
                <a:latin typeface="Times New Roman" panose="02020603050405020304" pitchFamily="18" charset="0"/>
                <a:ea typeface="Times New Roman" panose="02020603050405020304" pitchFamily="18" charset="0"/>
              </a:rPr>
              <a:t>S</a:t>
            </a:r>
            <a:r>
              <a:rPr lang="en-GB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olidification speed and thermal gradient to predict stray grain!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83433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1476B6B6-71FB-D45E-A44E-91C101F5F176}"/>
              </a:ext>
            </a:extLst>
          </p:cNvPr>
          <p:cNvSpPr txBox="1"/>
          <p:nvPr/>
        </p:nvSpPr>
        <p:spPr>
          <a:xfrm>
            <a:off x="1431636" y="0"/>
            <a:ext cx="93287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dirty="0">
                <a:ea typeface="Calibri" panose="020F0502020204030204" pitchFamily="34" charset="0"/>
              </a:rPr>
              <a:t>Stray grain and re-crystallization</a:t>
            </a:r>
            <a:endParaRPr lang="it-IT" sz="3600" dirty="0"/>
          </a:p>
        </p:txBody>
      </p:sp>
      <p:pic>
        <p:nvPicPr>
          <p:cNvPr id="3" name="Immagine 2" descr="Immagine che contiene testo, schermata, Policromia, aqua&#10;&#10;Descrizione generata automaticamente">
            <a:extLst>
              <a:ext uri="{FF2B5EF4-FFF2-40B4-BE49-F238E27FC236}">
                <a16:creationId xmlns:a16="http://schemas.microsoft.com/office/drawing/2014/main" id="{3959502E-E0BF-E0FD-BA71-29383EF470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9367" y="1489435"/>
            <a:ext cx="7993265" cy="2753884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07687DE6-9011-4086-D59C-BC1D9EAC8407}"/>
              </a:ext>
            </a:extLst>
          </p:cNvPr>
          <p:cNvSpPr txBox="1"/>
          <p:nvPr/>
        </p:nvSpPr>
        <p:spPr>
          <a:xfrm>
            <a:off x="2915240" y="4243319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Predicted results of </a:t>
            </a:r>
            <a:r>
              <a:rPr lang="en-GB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a)</a:t>
            </a:r>
            <a:r>
              <a:rPr lang="en-GB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stray grain, </a:t>
            </a:r>
            <a:r>
              <a:rPr lang="en-GB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b)</a:t>
            </a:r>
            <a:r>
              <a:rPr lang="en-GB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re-crystallization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347904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22C82839-B1B7-A781-B5F8-C390D9565F10}"/>
              </a:ext>
            </a:extLst>
          </p:cNvPr>
          <p:cNvSpPr txBox="1"/>
          <p:nvPr/>
        </p:nvSpPr>
        <p:spPr>
          <a:xfrm>
            <a:off x="1431636" y="0"/>
            <a:ext cx="93287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dirty="0">
                <a:ea typeface="Calibri" panose="020F0502020204030204" pitchFamily="34" charset="0"/>
              </a:rPr>
              <a:t>Conclusion: </a:t>
            </a:r>
            <a:r>
              <a:rPr lang="en-GB" sz="3600" dirty="0" err="1">
                <a:ea typeface="Calibri" panose="020F0502020204030204" pitchFamily="34" charset="0"/>
              </a:rPr>
              <a:t>multidisciplinarity</a:t>
            </a:r>
            <a:endParaRPr lang="it-IT" sz="3600" dirty="0"/>
          </a:p>
        </p:txBody>
      </p:sp>
      <p:pic>
        <p:nvPicPr>
          <p:cNvPr id="4" name="Immagine 3" descr="Immagine che contiene testo, diagramma, schermata, Piano&#10;&#10;Descrizione generata automaticamente">
            <a:extLst>
              <a:ext uri="{FF2B5EF4-FFF2-40B4-BE49-F238E27FC236}">
                <a16:creationId xmlns:a16="http://schemas.microsoft.com/office/drawing/2014/main" id="{291BCBD9-4B64-E0C0-BC4F-67CAA07EB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8226" y="840126"/>
            <a:ext cx="3477181" cy="1746653"/>
          </a:xfrm>
          <a:prstGeom prst="rect">
            <a:avLst/>
          </a:prstGeom>
        </p:spPr>
      </p:pic>
      <p:pic>
        <p:nvPicPr>
          <p:cNvPr id="5" name="Immagine 4" descr="Immagine che contiene testo, linea, schermata, Diagramma&#10;&#10;Descrizione generata automaticamente">
            <a:extLst>
              <a:ext uri="{FF2B5EF4-FFF2-40B4-BE49-F238E27FC236}">
                <a16:creationId xmlns:a16="http://schemas.microsoft.com/office/drawing/2014/main" id="{7729A316-1373-7290-484C-5D2D5186BC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9461" y="2586777"/>
            <a:ext cx="2298168" cy="1962041"/>
          </a:xfrm>
          <a:prstGeom prst="rect">
            <a:avLst/>
          </a:prstGeom>
        </p:spPr>
      </p:pic>
      <p:pic>
        <p:nvPicPr>
          <p:cNvPr id="6" name="Immagine 5" descr="Immagine che contiene schermata, Policromia, grafica, Elementi grafici&#10;&#10;Descrizione generata automaticamente">
            <a:extLst>
              <a:ext uri="{FF2B5EF4-FFF2-40B4-BE49-F238E27FC236}">
                <a16:creationId xmlns:a16="http://schemas.microsoft.com/office/drawing/2014/main" id="{5B4083C8-4F0B-4D5B-4FC3-4D9607AC5C7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22" t="3819" r="19840" b="14710"/>
          <a:stretch/>
        </p:blipFill>
        <p:spPr bwMode="auto">
          <a:xfrm>
            <a:off x="4467770" y="4548820"/>
            <a:ext cx="3447637" cy="218512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Immagine 7" descr="Immagine che contiene testo, diagramma, Carattere, ricevuta&#10;&#10;Descrizione generata automaticamente">
            <a:extLst>
              <a:ext uri="{FF2B5EF4-FFF2-40B4-BE49-F238E27FC236}">
                <a16:creationId xmlns:a16="http://schemas.microsoft.com/office/drawing/2014/main" id="{43FCAB66-941A-AFEB-4A0B-6BBA70AA89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726" y="2586777"/>
            <a:ext cx="3049108" cy="1962041"/>
          </a:xfrm>
          <a:prstGeom prst="rect">
            <a:avLst/>
          </a:prstGeom>
        </p:spPr>
      </p:pic>
      <p:pic>
        <p:nvPicPr>
          <p:cNvPr id="10" name="Immagine 9" descr="Immagine che contiene Modello in scala, motore&#10;&#10;Descrizione generata automaticamente">
            <a:extLst>
              <a:ext uri="{FF2B5EF4-FFF2-40B4-BE49-F238E27FC236}">
                <a16:creationId xmlns:a16="http://schemas.microsoft.com/office/drawing/2014/main" id="{61881EE9-EDA6-B021-ED83-7482C43CAFC0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9032" y="2694472"/>
            <a:ext cx="3053934" cy="1746654"/>
          </a:xfrm>
          <a:prstGeom prst="rect">
            <a:avLst/>
          </a:prstGeom>
        </p:spPr>
      </p:pic>
      <p:cxnSp>
        <p:nvCxnSpPr>
          <p:cNvPr id="13" name="Connettore curvo 12">
            <a:extLst>
              <a:ext uri="{FF2B5EF4-FFF2-40B4-BE49-F238E27FC236}">
                <a16:creationId xmlns:a16="http://schemas.microsoft.com/office/drawing/2014/main" id="{9E475B71-4D6F-32B7-7116-0C75108EF507}"/>
              </a:ext>
            </a:extLst>
          </p:cNvPr>
          <p:cNvCxnSpPr>
            <a:stCxn id="4" idx="3"/>
            <a:endCxn id="5" idx="0"/>
          </p:cNvCxnSpPr>
          <p:nvPr/>
        </p:nvCxnSpPr>
        <p:spPr>
          <a:xfrm>
            <a:off x="7915407" y="1713453"/>
            <a:ext cx="2383138" cy="873324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curvo 15">
            <a:extLst>
              <a:ext uri="{FF2B5EF4-FFF2-40B4-BE49-F238E27FC236}">
                <a16:creationId xmlns:a16="http://schemas.microsoft.com/office/drawing/2014/main" id="{43902868-136D-3B6D-219D-580970825D24}"/>
              </a:ext>
            </a:extLst>
          </p:cNvPr>
          <p:cNvCxnSpPr>
            <a:stCxn id="5" idx="2"/>
            <a:endCxn id="6" idx="3"/>
          </p:cNvCxnSpPr>
          <p:nvPr/>
        </p:nvCxnSpPr>
        <p:spPr>
          <a:xfrm rot="5400000">
            <a:off x="8560695" y="3903530"/>
            <a:ext cx="1092563" cy="2383138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curvo 17">
            <a:extLst>
              <a:ext uri="{FF2B5EF4-FFF2-40B4-BE49-F238E27FC236}">
                <a16:creationId xmlns:a16="http://schemas.microsoft.com/office/drawing/2014/main" id="{510309B1-0A29-281B-19AF-2A4B5F70140A}"/>
              </a:ext>
            </a:extLst>
          </p:cNvPr>
          <p:cNvCxnSpPr>
            <a:stCxn id="6" idx="1"/>
            <a:endCxn id="8" idx="2"/>
          </p:cNvCxnSpPr>
          <p:nvPr/>
        </p:nvCxnSpPr>
        <p:spPr>
          <a:xfrm rot="10800000">
            <a:off x="2095280" y="4548819"/>
            <a:ext cx="2372490" cy="1092563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ttore curvo 19">
            <a:extLst>
              <a:ext uri="{FF2B5EF4-FFF2-40B4-BE49-F238E27FC236}">
                <a16:creationId xmlns:a16="http://schemas.microsoft.com/office/drawing/2014/main" id="{9B86F27E-8B80-CAEF-D590-74658185D61B}"/>
              </a:ext>
            </a:extLst>
          </p:cNvPr>
          <p:cNvCxnSpPr>
            <a:stCxn id="8" idx="0"/>
            <a:endCxn id="4" idx="1"/>
          </p:cNvCxnSpPr>
          <p:nvPr/>
        </p:nvCxnSpPr>
        <p:spPr>
          <a:xfrm rot="5400000" flipH="1" flipV="1">
            <a:off x="2830091" y="978642"/>
            <a:ext cx="873324" cy="2342946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7370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FF6A251C-6381-1380-8DBA-F85A797066DB}"/>
              </a:ext>
            </a:extLst>
          </p:cNvPr>
          <p:cNvSpPr txBox="1"/>
          <p:nvPr/>
        </p:nvSpPr>
        <p:spPr>
          <a:xfrm>
            <a:off x="1431636" y="2921168"/>
            <a:ext cx="93287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6000" dirty="0" err="1">
                <a:latin typeface="Georgia" panose="02040502050405020303" pitchFamily="18" charset="0"/>
                <a:ea typeface="Verdana" panose="020B0604030504040204" pitchFamily="34" charset="0"/>
                <a:cs typeface="Tahoma" panose="020B0604030504040204" pitchFamily="34" charset="0"/>
              </a:rPr>
              <a:t>Grazie</a:t>
            </a:r>
            <a:r>
              <a:rPr lang="en-GB" sz="6000" dirty="0">
                <a:latin typeface="Georgia" panose="02040502050405020303" pitchFamily="18" charset="0"/>
                <a:ea typeface="Verdan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GB" sz="6000" dirty="0" err="1">
                <a:latin typeface="Georgia" panose="02040502050405020303" pitchFamily="18" charset="0"/>
                <a:ea typeface="Verdana" panose="020B0604030504040204" pitchFamily="34" charset="0"/>
                <a:cs typeface="Tahoma" panose="020B0604030504040204" pitchFamily="34" charset="0"/>
              </a:rPr>
              <a:t>dell’attenzione</a:t>
            </a:r>
            <a:r>
              <a:rPr lang="en-GB" sz="6000" dirty="0">
                <a:latin typeface="Georgia" panose="02040502050405020303" pitchFamily="18" charset="0"/>
                <a:ea typeface="Verdana" panose="020B0604030504040204" pitchFamily="34" charset="0"/>
                <a:cs typeface="Tahoma" panose="020B0604030504040204" pitchFamily="34" charset="0"/>
              </a:rPr>
              <a:t>!</a:t>
            </a:r>
            <a:endParaRPr lang="it-IT" sz="6000" dirty="0">
              <a:latin typeface="Georgia" panose="02040502050405020303" pitchFamily="18" charset="0"/>
              <a:ea typeface="Verdan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6545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5806</TotalTime>
  <Words>653</Words>
  <Application>Microsoft Office PowerPoint</Application>
  <PresentationFormat>Widescreen</PresentationFormat>
  <Paragraphs>73</Paragraphs>
  <Slides>14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8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14</vt:i4>
      </vt:variant>
    </vt:vector>
  </HeadingPairs>
  <TitlesOfParts>
    <vt:vector size="23" baseType="lpstr">
      <vt:lpstr>Aptos</vt:lpstr>
      <vt:lpstr>Aptos Display</vt:lpstr>
      <vt:lpstr>Arial</vt:lpstr>
      <vt:lpstr>Calibri</vt:lpstr>
      <vt:lpstr>Cambria Math</vt:lpstr>
      <vt:lpstr>Georgia</vt:lpstr>
      <vt:lpstr>Symbol</vt:lpstr>
      <vt:lpstr>Times New Roman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SALVATORE PALUMBO</dc:creator>
  <cp:lastModifiedBy>SALVATORE PALUMBO</cp:lastModifiedBy>
  <cp:revision>12</cp:revision>
  <dcterms:created xsi:type="dcterms:W3CDTF">2024-07-09T11:21:54Z</dcterms:created>
  <dcterms:modified xsi:type="dcterms:W3CDTF">2024-07-15T15:30:10Z</dcterms:modified>
</cp:coreProperties>
</file>